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kaggle.com/datasets/clmentbisaillon/fake-and-real-news-dataset" TargetMode="External"/><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huggingface.co/spaces/manasagangotri/Fake_123" TargetMode="External"/><Relationship Id="rId1" Type="http://schemas.openxmlformats.org/officeDocument/2006/relationships/image" Target="../media/image-8-1.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99323" y="2864287"/>
            <a:ext cx="4887754" cy="2500908"/>
          </a:xfrm>
          <a:prstGeom prst="rect">
            <a:avLst/>
          </a:prstGeom>
        </p:spPr>
      </p:pic>
      <p:sp>
        <p:nvSpPr>
          <p:cNvPr id="4" name="Text 0"/>
          <p:cNvSpPr/>
          <p:nvPr/>
        </p:nvSpPr>
        <p:spPr>
          <a:xfrm>
            <a:off x="6324124" y="1429941"/>
            <a:ext cx="7468553" cy="1408033"/>
          </a:xfrm>
          <a:prstGeom prst="rect">
            <a:avLst/>
          </a:prstGeom>
          <a:noFill/>
          <a:ln/>
        </p:spPr>
        <p:txBody>
          <a:bodyPr wrap="square" lIns="0" tIns="0" rIns="0" bIns="0" rtlCol="0" anchor="t"/>
          <a:lstStyle/>
          <a:p>
            <a:pPr algn="l" indent="0" marL="0">
              <a:lnSpc>
                <a:spcPts val="5500"/>
              </a:lnSpc>
              <a:buNone/>
            </a:pPr>
            <a:r>
              <a:rPr lang="en-US" sz="4400" spc="-89" kern="0" dirty="0">
                <a:solidFill>
                  <a:srgbClr val="000000"/>
                </a:solidFill>
                <a:latin typeface="Source Serif Pro Semi Bold" pitchFamily="34" charset="0"/>
                <a:ea typeface="Source Serif Pro Semi Bold" pitchFamily="34" charset="-122"/>
                <a:cs typeface="Source Serif Pro Semi Bold" pitchFamily="34" charset="-120"/>
              </a:rPr>
              <a:t>FakeShield: Real-Time Fake News Detection Tool</a:t>
            </a:r>
            <a:endParaRPr lang="en-US" sz="4400" dirty="0"/>
          </a:p>
        </p:txBody>
      </p:sp>
      <p:sp>
        <p:nvSpPr>
          <p:cNvPr id="5" name="Text 1"/>
          <p:cNvSpPr/>
          <p:nvPr/>
        </p:nvSpPr>
        <p:spPr>
          <a:xfrm>
            <a:off x="6324124" y="3196947"/>
            <a:ext cx="7468553" cy="766048"/>
          </a:xfrm>
          <a:prstGeom prst="rect">
            <a:avLst/>
          </a:prstGeom>
          <a:noFill/>
          <a:ln/>
        </p:spPr>
        <p:txBody>
          <a:bodyPr wrap="square" lIns="0" tIns="0" rIns="0" bIns="0" rtlCol="0" anchor="t"/>
          <a:lstStyle/>
          <a:p>
            <a:pPr algn="l" indent="0" marL="0">
              <a:lnSpc>
                <a:spcPts val="3000"/>
              </a:lnSpc>
              <a:buNone/>
            </a:pPr>
            <a:r>
              <a:rPr lang="en-US" sz="1850" b="1" i="1"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An AI-powered truth detective that</a:t>
            </a:r>
            <a:pPr algn="l" indent="0" marL="0">
              <a:lnSpc>
                <a:spcPts val="3000"/>
              </a:lnSpc>
              <a:buNone/>
            </a:pPr>
            <a:r>
              <a:rPr lang="en-US" sz="1850" i="1"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reads, reasons, and reveals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the reality behind the headlines</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t>
            </a:r>
            <a:pPr algn="l" indent="0" marL="0">
              <a:lnSpc>
                <a:spcPts val="3000"/>
              </a:lnSpc>
              <a:buNone/>
            </a:pPr>
            <a:r>
              <a:rPr lang="en-US" sz="1850" b="1" i="1" spc="-38" kern="0" dirty="0">
                <a:solidFill>
                  <a:srgbClr val="272525"/>
                </a:solidFill>
                <a:latin typeface="Source Sans Pro" pitchFamily="34" charset="0"/>
                <a:ea typeface="Source Sans Pro" pitchFamily="34" charset="-122"/>
                <a:cs typeface="Source Sans Pro" pitchFamily="34" charset="-120"/>
              </a:rPr>
              <a:t>"</a:t>
            </a:r>
            <a:endParaRPr lang="en-US" sz="1850" dirty="0"/>
          </a:p>
        </p:txBody>
      </p:sp>
      <p:sp>
        <p:nvSpPr>
          <p:cNvPr id="6" name="Text 2"/>
          <p:cNvSpPr/>
          <p:nvPr/>
        </p:nvSpPr>
        <p:spPr>
          <a:xfrm>
            <a:off x="6324124" y="4232196"/>
            <a:ext cx="7468553" cy="1532096"/>
          </a:xfrm>
          <a:prstGeom prst="rect">
            <a:avLst/>
          </a:prstGeom>
          <a:noFill/>
          <a:ln/>
        </p:spPr>
        <p:txBody>
          <a:bodyPr wrap="square" lIns="0" tIns="0" rIns="0" bIns="0" rtlCol="0" anchor="t"/>
          <a:lstStyle/>
          <a:p>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Welcome to the Future of Fake News Detection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Meet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FakeShield</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 powerful tool built to combat misinformation. In this presentation, we’ll explore the FakeShield core features and technical strengths.</a:t>
            </a:r>
            <a:endParaRPr lang="en-US" sz="1850" dirty="0"/>
          </a:p>
        </p:txBody>
      </p:sp>
      <p:sp>
        <p:nvSpPr>
          <p:cNvPr id="7" name="Text 3"/>
          <p:cNvSpPr/>
          <p:nvPr/>
        </p:nvSpPr>
        <p:spPr>
          <a:xfrm>
            <a:off x="6324124" y="6033492"/>
            <a:ext cx="7468553" cy="766048"/>
          </a:xfrm>
          <a:prstGeom prst="rect">
            <a:avLst/>
          </a:prstGeom>
          <a:noFill/>
          <a:ln/>
        </p:spPr>
        <p:txBody>
          <a:bodyPr wrap="square" lIns="0" tIns="0" rIns="0" bIns="0" rtlCol="0" anchor="t"/>
          <a:lstStyle/>
          <a:p>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Team Name:</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ch.manasa_d09b</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Hackathon: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i="1" spc="-38" kern="0" dirty="0">
                <a:solidFill>
                  <a:srgbClr val="272525"/>
                </a:solidFill>
                <a:latin typeface="Source Sans Pro" pitchFamily="34" charset="0"/>
                <a:ea typeface="Source Sans Pro" pitchFamily="34" charset="-122"/>
                <a:cs typeface="Source Sans Pro" pitchFamily="34" charset="-120"/>
              </a:rPr>
              <a:t>Truth Tell Hackathon</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2378750"/>
            <a:ext cx="8759428" cy="704017"/>
          </a:xfrm>
          <a:prstGeom prst="rect">
            <a:avLst/>
          </a:prstGeom>
          <a:noFill/>
          <a:ln/>
        </p:spPr>
        <p:txBody>
          <a:bodyPr wrap="none" lIns="0" tIns="0" rIns="0" bIns="0" rtlCol="0" anchor="t"/>
          <a:lstStyle/>
          <a:p>
            <a:pPr algn="l" indent="0" marL="0">
              <a:lnSpc>
                <a:spcPts val="5500"/>
              </a:lnSpc>
              <a:buNone/>
            </a:pPr>
            <a:r>
              <a:rPr lang="en-US" sz="4400" spc="-89" kern="0" dirty="0">
                <a:solidFill>
                  <a:srgbClr val="000000"/>
                </a:solidFill>
                <a:latin typeface="Source Serif Pro Semi Bold" pitchFamily="34" charset="0"/>
                <a:ea typeface="Source Serif Pro Semi Bold" pitchFamily="34" charset="-122"/>
                <a:cs typeface="Source Serif Pro Semi Bold" pitchFamily="34" charset="-120"/>
              </a:rPr>
              <a:t>Meet the Maker : Behind FakeShield</a:t>
            </a:r>
            <a:endParaRPr lang="en-US" sz="4400" dirty="0"/>
          </a:p>
        </p:txBody>
      </p:sp>
      <p:sp>
        <p:nvSpPr>
          <p:cNvPr id="3" name="Text 1"/>
          <p:cNvSpPr/>
          <p:nvPr/>
        </p:nvSpPr>
        <p:spPr>
          <a:xfrm>
            <a:off x="837724" y="3561517"/>
            <a:ext cx="12954952" cy="766048"/>
          </a:xfrm>
          <a:prstGeom prst="rect">
            <a:avLst/>
          </a:prstGeom>
          <a:noFill/>
          <a:ln/>
        </p:spPr>
        <p:txBody>
          <a:bodyPr wrap="square" lIns="0" tIns="0" rIns="0" bIns="0" rtlCol="0" anchor="t"/>
          <a:lstStyle/>
          <a:p>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"I'm a passionate individual who loves solving real-world problems using innovative AI solutions. I thrive in collaborative environments, driven by curiosity and a desire to build tools that create meaningful impact"</a:t>
            </a:r>
            <a:endParaRPr lang="en-US" sz="1850" dirty="0"/>
          </a:p>
        </p:txBody>
      </p:sp>
      <p:sp>
        <p:nvSpPr>
          <p:cNvPr id="4" name="Text 2"/>
          <p:cNvSpPr/>
          <p:nvPr/>
        </p:nvSpPr>
        <p:spPr>
          <a:xfrm>
            <a:off x="837724" y="4686538"/>
            <a:ext cx="3379470" cy="422315"/>
          </a:xfrm>
          <a:prstGeom prst="rect">
            <a:avLst/>
          </a:prstGeom>
          <a:noFill/>
          <a:ln/>
        </p:spPr>
        <p:txBody>
          <a:bodyPr wrap="none" lIns="0" tIns="0" rIns="0" bIns="0" rtlCol="0" anchor="t"/>
          <a:lstStyle/>
          <a:p>
            <a:pPr algn="l" indent="0" marL="0">
              <a:lnSpc>
                <a:spcPts val="3300"/>
              </a:lnSpc>
              <a:buNone/>
            </a:pPr>
            <a:r>
              <a:rPr lang="en-US" sz="2650" b="1" spc="-53" kern="0" dirty="0">
                <a:solidFill>
                  <a:srgbClr val="000000"/>
                </a:solidFill>
                <a:latin typeface="Source Serif Pro Semi Bold" pitchFamily="34" charset="0"/>
                <a:ea typeface="Source Serif Pro Semi Bold" pitchFamily="34" charset="-122"/>
                <a:cs typeface="Source Serif Pro Semi Bold" pitchFamily="34" charset="-120"/>
              </a:rPr>
              <a:t>Team Members</a:t>
            </a:r>
            <a:endParaRPr lang="en-US" sz="2650" dirty="0"/>
          </a:p>
        </p:txBody>
      </p:sp>
      <p:sp>
        <p:nvSpPr>
          <p:cNvPr id="5" name="Text 3"/>
          <p:cNvSpPr/>
          <p:nvPr/>
        </p:nvSpPr>
        <p:spPr>
          <a:xfrm>
            <a:off x="837724" y="5467826"/>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Manasa Gangotri</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[Final year graduate of UCEOU]</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1533525"/>
            <a:ext cx="5632490" cy="704017"/>
          </a:xfrm>
          <a:prstGeom prst="rect">
            <a:avLst/>
          </a:prstGeom>
          <a:noFill/>
          <a:ln/>
        </p:spPr>
        <p:txBody>
          <a:bodyPr wrap="none" lIns="0" tIns="0" rIns="0" bIns="0" rtlCol="0" anchor="t"/>
          <a:lstStyle/>
          <a:p>
            <a:pPr algn="l" indent="0" marL="0">
              <a:lnSpc>
                <a:spcPts val="5500"/>
              </a:lnSpc>
              <a:buNone/>
            </a:pPr>
            <a:r>
              <a:rPr lang="en-US" sz="4400" spc="-89" kern="0" dirty="0">
                <a:solidFill>
                  <a:srgbClr val="000000"/>
                </a:solidFill>
                <a:latin typeface="Source Serif Pro Semi Bold" pitchFamily="34" charset="0"/>
                <a:ea typeface="Source Serif Pro Semi Bold" pitchFamily="34" charset="-122"/>
                <a:cs typeface="Source Serif Pro Semi Bold" pitchFamily="34" charset="-120"/>
              </a:rPr>
              <a:t>Problem Statement</a:t>
            </a:r>
            <a:endParaRPr lang="en-US" sz="4400" dirty="0"/>
          </a:p>
        </p:txBody>
      </p:sp>
      <p:sp>
        <p:nvSpPr>
          <p:cNvPr id="4" name="Text 1"/>
          <p:cNvSpPr/>
          <p:nvPr/>
        </p:nvSpPr>
        <p:spPr>
          <a:xfrm>
            <a:off x="837724" y="2596515"/>
            <a:ext cx="7468553" cy="1915120"/>
          </a:xfrm>
          <a:prstGeom prst="rect">
            <a:avLst/>
          </a:prstGeom>
          <a:noFill/>
          <a:ln/>
        </p:spPr>
        <p:txBody>
          <a:bodyPr wrap="square" lIns="0" tIns="0" rIns="0" bIns="0" rtlCol="0" anchor="t"/>
          <a:lstStyle/>
          <a:p>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Fake news spreads  faster than true news on social media.</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In an era dominated by rapid information exchange,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misinformation threatens public opinion, trust, and safety.</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Manual fact-checking is time-consuming and can't scale with the volume of digital content.</a:t>
            </a:r>
            <a:endParaRPr lang="en-US" sz="1850" dirty="0"/>
          </a:p>
        </p:txBody>
      </p:sp>
      <p:sp>
        <p:nvSpPr>
          <p:cNvPr id="5" name="Text 2"/>
          <p:cNvSpPr/>
          <p:nvPr/>
        </p:nvSpPr>
        <p:spPr>
          <a:xfrm>
            <a:off x="837724" y="4780836"/>
            <a:ext cx="7468553" cy="1915120"/>
          </a:xfrm>
          <a:prstGeom prst="rect">
            <a:avLst/>
          </a:prstGeom>
          <a:noFill/>
          <a:ln/>
        </p:spPr>
        <p:txBody>
          <a:bodyPr wrap="square" lIns="0" tIns="0" rIns="0" bIns="0" rtlCol="0" anchor="t"/>
          <a:lstStyle/>
          <a:p>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Introducing FakeShield</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An AI-powered truth detective that </a:t>
            </a:r>
            <a:pPr algn="l" indent="0" marL="0">
              <a:lnSpc>
                <a:spcPts val="3000"/>
              </a:lnSpc>
              <a:buNone/>
            </a:pPr>
            <a:r>
              <a:rPr lang="en-US" sz="1850" b="1" i="1" spc="-38" kern="0" dirty="0">
                <a:solidFill>
                  <a:srgbClr val="272525"/>
                </a:solidFill>
                <a:latin typeface="Source Sans Pro" pitchFamily="34" charset="0"/>
                <a:ea typeface="Source Sans Pro" pitchFamily="34" charset="-122"/>
                <a:cs typeface="Source Sans Pro" pitchFamily="34" charset="-120"/>
              </a:rPr>
              <a:t>reads, reasons, and reveals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the reality behind the headlines.</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Fake Shield is built to handle what manual efforts can’t — bringing speed, accuracy, and smart solutions to fight misinformation.</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43204" y="448747"/>
            <a:ext cx="4887992" cy="7331988"/>
          </a:xfrm>
          <a:prstGeom prst="rect">
            <a:avLst/>
          </a:prstGeom>
        </p:spPr>
      </p:pic>
      <p:sp>
        <p:nvSpPr>
          <p:cNvPr id="4" name="Text 0"/>
          <p:cNvSpPr/>
          <p:nvPr/>
        </p:nvSpPr>
        <p:spPr>
          <a:xfrm>
            <a:off x="837724" y="2056805"/>
            <a:ext cx="7468553" cy="1126569"/>
          </a:xfrm>
          <a:prstGeom prst="rect">
            <a:avLst/>
          </a:prstGeom>
          <a:noFill/>
          <a:ln/>
        </p:spPr>
        <p:txBody>
          <a:bodyPr wrap="square" lIns="0" tIns="0" rIns="0" bIns="0" rtlCol="0" anchor="t"/>
          <a:lstStyle/>
          <a:p>
            <a:pPr algn="l" indent="0" marL="0">
              <a:lnSpc>
                <a:spcPts val="4400"/>
              </a:lnSpc>
              <a:buNone/>
            </a:pPr>
            <a:r>
              <a:rPr lang="en-US" sz="3500" b="1" spc="-71" kern="0" dirty="0">
                <a:solidFill>
                  <a:srgbClr val="000000"/>
                </a:solidFill>
                <a:latin typeface="Source Serif Pro Semi Bold" pitchFamily="34" charset="0"/>
                <a:ea typeface="Source Serif Pro Semi Bold" pitchFamily="34" charset="-122"/>
                <a:cs typeface="Source Serif Pro Semi Bold" pitchFamily="34" charset="-120"/>
              </a:rPr>
              <a:t>Our Solution – Fake News Detection Assistant</a:t>
            </a:r>
            <a:endParaRPr lang="en-US" sz="3500" dirty="0"/>
          </a:p>
        </p:txBody>
      </p:sp>
      <p:sp>
        <p:nvSpPr>
          <p:cNvPr id="5" name="Text 1"/>
          <p:cNvSpPr/>
          <p:nvPr/>
        </p:nvSpPr>
        <p:spPr>
          <a:xfrm>
            <a:off x="837724" y="3422690"/>
            <a:ext cx="3379470" cy="422315"/>
          </a:xfrm>
          <a:prstGeom prst="rect">
            <a:avLst/>
          </a:prstGeom>
          <a:noFill/>
          <a:ln/>
        </p:spPr>
        <p:txBody>
          <a:bodyPr wrap="none" lIns="0" tIns="0" rIns="0" bIns="0" rtlCol="0" anchor="t"/>
          <a:lstStyle/>
          <a:p>
            <a:pPr algn="l" indent="0" marL="0">
              <a:lnSpc>
                <a:spcPts val="3300"/>
              </a:lnSpc>
              <a:buNone/>
            </a:pPr>
            <a:r>
              <a:rPr lang="en-US" sz="2650" spc="-53" kern="0" dirty="0">
                <a:solidFill>
                  <a:srgbClr val="000000"/>
                </a:solidFill>
                <a:latin typeface="Source Serif Pro Semi Bold" pitchFamily="34" charset="0"/>
                <a:ea typeface="Source Serif Pro Semi Bold" pitchFamily="34" charset="-122"/>
                <a:cs typeface="Source Serif Pro Semi Bold" pitchFamily="34" charset="-120"/>
              </a:rPr>
              <a:t>What It Does:</a:t>
            </a:r>
            <a:endParaRPr lang="en-US" sz="2650" dirty="0"/>
          </a:p>
        </p:txBody>
      </p:sp>
      <p:sp>
        <p:nvSpPr>
          <p:cNvPr id="6" name="Text 2"/>
          <p:cNvSpPr/>
          <p:nvPr/>
        </p:nvSpPr>
        <p:spPr>
          <a:xfrm>
            <a:off x="837724" y="4203978"/>
            <a:ext cx="7468553" cy="383024"/>
          </a:xfrm>
          <a:prstGeom prst="rect">
            <a:avLst/>
          </a:prstGeom>
          <a:noFill/>
          <a:ln/>
        </p:spPr>
        <p:txBody>
          <a:bodyPr wrap="none" lIns="0" tIns="0" rIns="0" bIns="0" rtlCol="0" anchor="t"/>
          <a:lstStyle/>
          <a:p>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An AI-powered assistant that:</a:t>
            </a:r>
            <a:endParaRPr lang="en-US" sz="1850" dirty="0"/>
          </a:p>
        </p:txBody>
      </p:sp>
      <p:sp>
        <p:nvSpPr>
          <p:cNvPr id="7" name="Text 3"/>
          <p:cNvSpPr/>
          <p:nvPr/>
        </p:nvSpPr>
        <p:spPr>
          <a:xfrm>
            <a:off x="837724" y="4856202"/>
            <a:ext cx="7468553"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Detects</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whether a news article is real or fake.</a:t>
            </a:r>
            <a:endParaRPr lang="en-US" sz="1850" dirty="0"/>
          </a:p>
        </p:txBody>
      </p:sp>
      <p:sp>
        <p:nvSpPr>
          <p:cNvPr id="8" name="Text 4"/>
          <p:cNvSpPr/>
          <p:nvPr/>
        </p:nvSpPr>
        <p:spPr>
          <a:xfrm>
            <a:off x="837724" y="5322927"/>
            <a:ext cx="7468553"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Summarizes</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long news content into digestible points.</a:t>
            </a:r>
            <a:endParaRPr lang="en-US" sz="1850" dirty="0"/>
          </a:p>
        </p:txBody>
      </p:sp>
      <p:sp>
        <p:nvSpPr>
          <p:cNvPr id="9" name="Text 5"/>
          <p:cNvSpPr/>
          <p:nvPr/>
        </p:nvSpPr>
        <p:spPr>
          <a:xfrm>
            <a:off x="837724" y="5789652"/>
            <a:ext cx="7468553"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Fact-checks</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key claims using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Google Fact Check API</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and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Gemini API.</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544241"/>
            <a:ext cx="3831074" cy="422315"/>
          </a:xfrm>
          <a:prstGeom prst="rect">
            <a:avLst/>
          </a:prstGeom>
          <a:noFill/>
          <a:ln/>
        </p:spPr>
        <p:txBody>
          <a:bodyPr wrap="none" lIns="0" tIns="0" rIns="0" bIns="0" rtlCol="0" anchor="t"/>
          <a:lstStyle/>
          <a:p>
            <a:pPr algn="l" indent="0" marL="0">
              <a:lnSpc>
                <a:spcPts val="3300"/>
              </a:lnSpc>
              <a:buNone/>
            </a:pPr>
            <a:r>
              <a:rPr lang="en-US" sz="2650" spc="-53" kern="0" dirty="0">
                <a:solidFill>
                  <a:srgbClr val="000000"/>
                </a:solidFill>
                <a:latin typeface="Source Serif Pro Semi Bold" pitchFamily="34" charset="0"/>
                <a:ea typeface="Source Serif Pro Semi Bold" pitchFamily="34" charset="-122"/>
                <a:cs typeface="Source Serif Pro Semi Bold" pitchFamily="34" charset="-120"/>
              </a:rPr>
              <a:t>What Makes It Innovative:</a:t>
            </a:r>
            <a:endParaRPr lang="en-US" sz="2650" dirty="0"/>
          </a:p>
        </p:txBody>
      </p:sp>
      <p:sp>
        <p:nvSpPr>
          <p:cNvPr id="3" name="Text 1"/>
          <p:cNvSpPr/>
          <p:nvPr/>
        </p:nvSpPr>
        <p:spPr>
          <a:xfrm>
            <a:off x="837724" y="2445306"/>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Multi-layered verification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Combines ML prediction, summarization, and cross-verification for robust accuracy.</a:t>
            </a:r>
            <a:endParaRPr lang="en-US" sz="1850" dirty="0"/>
          </a:p>
        </p:txBody>
      </p:sp>
      <p:sp>
        <p:nvSpPr>
          <p:cNvPr id="4" name="Text 2"/>
          <p:cNvSpPr/>
          <p:nvPr/>
        </p:nvSpPr>
        <p:spPr>
          <a:xfrm>
            <a:off x="837724" y="2912031"/>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Language-agnostic input</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Translates any language to English using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Google Translate API</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before processing.</a:t>
            </a:r>
            <a:endParaRPr lang="en-US" sz="1850" dirty="0"/>
          </a:p>
        </p:txBody>
      </p:sp>
      <p:sp>
        <p:nvSpPr>
          <p:cNvPr id="5" name="Text 3"/>
          <p:cNvSpPr/>
          <p:nvPr/>
        </p:nvSpPr>
        <p:spPr>
          <a:xfrm>
            <a:off x="837724" y="3378756"/>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AI-generated fact-check queries</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Uses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Gemini API</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to extract precise, verifiable queries automatically.</a:t>
            </a:r>
            <a:endParaRPr lang="en-US" sz="1850" dirty="0"/>
          </a:p>
        </p:txBody>
      </p:sp>
      <p:sp>
        <p:nvSpPr>
          <p:cNvPr id="6" name="Text 4"/>
          <p:cNvSpPr/>
          <p:nvPr/>
        </p:nvSpPr>
        <p:spPr>
          <a:xfrm>
            <a:off x="837724" y="3845481"/>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Explainability</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Integrates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SHAP</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to interpret model predictions and show which parts influenced the decision.</a:t>
            </a:r>
            <a:endParaRPr lang="en-US" sz="1850" dirty="0"/>
          </a:p>
        </p:txBody>
      </p:sp>
      <p:sp>
        <p:nvSpPr>
          <p:cNvPr id="7" name="Text 5"/>
          <p:cNvSpPr/>
          <p:nvPr/>
        </p:nvSpPr>
        <p:spPr>
          <a:xfrm>
            <a:off x="837724" y="4587478"/>
            <a:ext cx="3379470" cy="422315"/>
          </a:xfrm>
          <a:prstGeom prst="rect">
            <a:avLst/>
          </a:prstGeom>
          <a:noFill/>
          <a:ln/>
        </p:spPr>
        <p:txBody>
          <a:bodyPr wrap="none" lIns="0" tIns="0" rIns="0" bIns="0" rtlCol="0" anchor="t"/>
          <a:lstStyle/>
          <a:p>
            <a:pPr algn="l" indent="0" marL="0">
              <a:lnSpc>
                <a:spcPts val="3300"/>
              </a:lnSpc>
              <a:buNone/>
            </a:pPr>
            <a:r>
              <a:rPr lang="en-US" sz="2650" spc="-53" kern="0" dirty="0">
                <a:solidFill>
                  <a:srgbClr val="000000"/>
                </a:solidFill>
                <a:latin typeface="Source Serif Pro Semi Bold" pitchFamily="34" charset="0"/>
                <a:ea typeface="Source Serif Pro Semi Bold" pitchFamily="34" charset="-122"/>
                <a:cs typeface="Source Serif Pro Semi Bold" pitchFamily="34" charset="-120"/>
              </a:rPr>
              <a:t>Novel Integrations:</a:t>
            </a:r>
            <a:endParaRPr lang="en-US" sz="2650" dirty="0"/>
          </a:p>
        </p:txBody>
      </p:sp>
      <p:sp>
        <p:nvSpPr>
          <p:cNvPr id="8" name="Text 6"/>
          <p:cNvSpPr/>
          <p:nvPr/>
        </p:nvSpPr>
        <p:spPr>
          <a:xfrm>
            <a:off x="837724" y="5368766"/>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Gemini API + Google Fact Check</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Dual-layer verification with LLM and official sources</a:t>
            </a:r>
            <a:endParaRPr lang="en-US" sz="1850" dirty="0"/>
          </a:p>
        </p:txBody>
      </p:sp>
      <p:sp>
        <p:nvSpPr>
          <p:cNvPr id="9" name="Text 7"/>
          <p:cNvSpPr/>
          <p:nvPr/>
        </p:nvSpPr>
        <p:spPr>
          <a:xfrm>
            <a:off x="837724" y="5835491"/>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SHAP</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Rare in fake news apps—offers transparency in model decisions</a:t>
            </a:r>
            <a:endParaRPr lang="en-US" sz="1850" dirty="0"/>
          </a:p>
        </p:txBody>
      </p:sp>
      <p:sp>
        <p:nvSpPr>
          <p:cNvPr id="10" name="Text 8"/>
          <p:cNvSpPr/>
          <p:nvPr/>
        </p:nvSpPr>
        <p:spPr>
          <a:xfrm>
            <a:off x="837724" y="6302216"/>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Auto Query Generation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Gemini extracts concise, high-precision fact-checkable queries</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18793" y="666750"/>
            <a:ext cx="3303032" cy="412790"/>
          </a:xfrm>
          <a:prstGeom prst="rect">
            <a:avLst/>
          </a:prstGeom>
          <a:noFill/>
          <a:ln/>
        </p:spPr>
        <p:txBody>
          <a:bodyPr wrap="none" lIns="0" tIns="0" rIns="0" bIns="0" rtlCol="0" anchor="t"/>
          <a:lstStyle/>
          <a:p>
            <a:pPr algn="l" indent="0" marL="0">
              <a:lnSpc>
                <a:spcPts val="3250"/>
              </a:lnSpc>
              <a:buNone/>
            </a:pPr>
            <a:r>
              <a:rPr lang="en-US" sz="2600" spc="-52" kern="0" dirty="0">
                <a:solidFill>
                  <a:srgbClr val="000000"/>
                </a:solidFill>
                <a:latin typeface="Source Serif Pro Semi Bold" pitchFamily="34" charset="0"/>
                <a:ea typeface="Source Serif Pro Semi Bold" pitchFamily="34" charset="-122"/>
                <a:cs typeface="Source Serif Pro Semi Bold" pitchFamily="34" charset="-120"/>
              </a:rPr>
              <a:t>Key Technologies:</a:t>
            </a:r>
            <a:endParaRPr lang="en-US" sz="2600" dirty="0"/>
          </a:p>
        </p:txBody>
      </p:sp>
      <p:sp>
        <p:nvSpPr>
          <p:cNvPr id="3" name="Shape 1"/>
          <p:cNvSpPr/>
          <p:nvPr/>
        </p:nvSpPr>
        <p:spPr>
          <a:xfrm>
            <a:off x="818793" y="1547455"/>
            <a:ext cx="12992814" cy="5377815"/>
          </a:xfrm>
          <a:prstGeom prst="roundRect">
            <a:avLst>
              <a:gd name="adj" fmla="val 1827"/>
            </a:avLst>
          </a:prstGeom>
          <a:noFill/>
          <a:ln w="7620">
            <a:solidFill>
              <a:srgbClr val="000000">
                <a:alpha val="8000"/>
              </a:srgbClr>
            </a:solidFill>
            <a:prstDash val="solid"/>
          </a:ln>
        </p:spPr>
      </p:sp>
      <p:sp>
        <p:nvSpPr>
          <p:cNvPr id="4" name="Shape 2"/>
          <p:cNvSpPr/>
          <p:nvPr/>
        </p:nvSpPr>
        <p:spPr>
          <a:xfrm>
            <a:off x="826413" y="1555075"/>
            <a:ext cx="12977574" cy="670322"/>
          </a:xfrm>
          <a:prstGeom prst="rect">
            <a:avLst/>
          </a:prstGeom>
          <a:solidFill>
            <a:srgbClr val="FFFFFF">
              <a:alpha val="4000"/>
            </a:srgbClr>
          </a:solidFill>
          <a:ln/>
        </p:spPr>
      </p:sp>
      <p:sp>
        <p:nvSpPr>
          <p:cNvPr id="5" name="Text 3"/>
          <p:cNvSpPr/>
          <p:nvPr/>
        </p:nvSpPr>
        <p:spPr>
          <a:xfrm>
            <a:off x="1060371" y="1703070"/>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Technology</a:t>
            </a:r>
            <a:endParaRPr lang="en-US" sz="1800" dirty="0"/>
          </a:p>
        </p:txBody>
      </p:sp>
      <p:sp>
        <p:nvSpPr>
          <p:cNvPr id="6" name="Text 4"/>
          <p:cNvSpPr/>
          <p:nvPr/>
        </p:nvSpPr>
        <p:spPr>
          <a:xfrm>
            <a:off x="7552968" y="1703070"/>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Purpose</a:t>
            </a:r>
            <a:endParaRPr lang="en-US" sz="1800" dirty="0"/>
          </a:p>
        </p:txBody>
      </p:sp>
      <p:sp>
        <p:nvSpPr>
          <p:cNvPr id="7" name="Shape 5"/>
          <p:cNvSpPr/>
          <p:nvPr/>
        </p:nvSpPr>
        <p:spPr>
          <a:xfrm>
            <a:off x="826413" y="2225397"/>
            <a:ext cx="12977574" cy="670322"/>
          </a:xfrm>
          <a:prstGeom prst="rect">
            <a:avLst/>
          </a:prstGeom>
          <a:solidFill>
            <a:srgbClr val="000000">
              <a:alpha val="4000"/>
            </a:srgbClr>
          </a:solidFill>
          <a:ln/>
        </p:spPr>
      </p:sp>
      <p:sp>
        <p:nvSpPr>
          <p:cNvPr id="8" name="Text 6"/>
          <p:cNvSpPr/>
          <p:nvPr/>
        </p:nvSpPr>
        <p:spPr>
          <a:xfrm>
            <a:off x="1060371" y="2373392"/>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000000"/>
                </a:solidFill>
                <a:latin typeface="Source Sans Pro" pitchFamily="34" charset="0"/>
                <a:ea typeface="Source Sans Pro" pitchFamily="34" charset="-122"/>
                <a:cs typeface="Source Sans Pro" pitchFamily="34" charset="-120"/>
              </a:rPr>
              <a:t>🤖</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RoBERTa Pretrained Model</a:t>
            </a:r>
            <a:endParaRPr lang="en-US" sz="1800" dirty="0"/>
          </a:p>
        </p:txBody>
      </p:sp>
      <p:sp>
        <p:nvSpPr>
          <p:cNvPr id="9" name="Text 7"/>
          <p:cNvSpPr/>
          <p:nvPr/>
        </p:nvSpPr>
        <p:spPr>
          <a:xfrm>
            <a:off x="7552968" y="2373392"/>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Fake news classification</a:t>
            </a:r>
            <a:endParaRPr lang="en-US" sz="1800" dirty="0"/>
          </a:p>
        </p:txBody>
      </p:sp>
      <p:sp>
        <p:nvSpPr>
          <p:cNvPr id="10" name="Shape 8"/>
          <p:cNvSpPr/>
          <p:nvPr/>
        </p:nvSpPr>
        <p:spPr>
          <a:xfrm>
            <a:off x="826413" y="2895719"/>
            <a:ext cx="12977574" cy="670322"/>
          </a:xfrm>
          <a:prstGeom prst="rect">
            <a:avLst/>
          </a:prstGeom>
          <a:solidFill>
            <a:srgbClr val="FFFFFF">
              <a:alpha val="4000"/>
            </a:srgbClr>
          </a:solidFill>
          <a:ln/>
        </p:spPr>
      </p:sp>
      <p:sp>
        <p:nvSpPr>
          <p:cNvPr id="11" name="Text 9"/>
          <p:cNvSpPr/>
          <p:nvPr/>
        </p:nvSpPr>
        <p:spPr>
          <a:xfrm>
            <a:off x="1060371" y="3043714"/>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000000"/>
                </a:solidFill>
                <a:latin typeface="Source Sans Pro" pitchFamily="34" charset="0"/>
                <a:ea typeface="Source Sans Pro" pitchFamily="34" charset="-122"/>
                <a:cs typeface="Source Sans Pro" pitchFamily="34" charset="-120"/>
              </a:rPr>
              <a:t>📄</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BART Summarizer</a:t>
            </a:r>
            <a:endParaRPr lang="en-US" sz="1800" dirty="0"/>
          </a:p>
        </p:txBody>
      </p:sp>
      <p:sp>
        <p:nvSpPr>
          <p:cNvPr id="12" name="Text 10"/>
          <p:cNvSpPr/>
          <p:nvPr/>
        </p:nvSpPr>
        <p:spPr>
          <a:xfrm>
            <a:off x="7552968" y="3043714"/>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Summarization of long text</a:t>
            </a:r>
            <a:endParaRPr lang="en-US" sz="1800" dirty="0"/>
          </a:p>
        </p:txBody>
      </p:sp>
      <p:sp>
        <p:nvSpPr>
          <p:cNvPr id="13" name="Shape 11"/>
          <p:cNvSpPr/>
          <p:nvPr/>
        </p:nvSpPr>
        <p:spPr>
          <a:xfrm>
            <a:off x="826413" y="3566041"/>
            <a:ext cx="12977574" cy="670322"/>
          </a:xfrm>
          <a:prstGeom prst="rect">
            <a:avLst/>
          </a:prstGeom>
          <a:solidFill>
            <a:srgbClr val="000000">
              <a:alpha val="4000"/>
            </a:srgbClr>
          </a:solidFill>
          <a:ln/>
        </p:spPr>
      </p:sp>
      <p:sp>
        <p:nvSpPr>
          <p:cNvPr id="14" name="Text 12"/>
          <p:cNvSpPr/>
          <p:nvPr/>
        </p:nvSpPr>
        <p:spPr>
          <a:xfrm>
            <a:off x="1060371" y="3714036"/>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000000"/>
                </a:solidFill>
                <a:latin typeface="Source Sans Pro" pitchFamily="34" charset="0"/>
                <a:ea typeface="Source Sans Pro" pitchFamily="34" charset="-122"/>
                <a:cs typeface="Source Sans Pro" pitchFamily="34" charset="-120"/>
              </a:rPr>
              <a:t>🌐</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Gemini  API</a:t>
            </a:r>
            <a:endParaRPr lang="en-US" sz="1800" dirty="0"/>
          </a:p>
        </p:txBody>
      </p:sp>
      <p:sp>
        <p:nvSpPr>
          <p:cNvPr id="15" name="Text 13"/>
          <p:cNvSpPr/>
          <p:nvPr/>
        </p:nvSpPr>
        <p:spPr>
          <a:xfrm>
            <a:off x="7552968" y="3714036"/>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Claim extraction &amp; internal fact-checking</a:t>
            </a:r>
            <a:endParaRPr lang="en-US" sz="1800" dirty="0"/>
          </a:p>
        </p:txBody>
      </p:sp>
      <p:sp>
        <p:nvSpPr>
          <p:cNvPr id="16" name="Shape 14"/>
          <p:cNvSpPr/>
          <p:nvPr/>
        </p:nvSpPr>
        <p:spPr>
          <a:xfrm>
            <a:off x="826413" y="4236363"/>
            <a:ext cx="12977574" cy="670322"/>
          </a:xfrm>
          <a:prstGeom prst="rect">
            <a:avLst/>
          </a:prstGeom>
          <a:solidFill>
            <a:srgbClr val="FFFFFF">
              <a:alpha val="4000"/>
            </a:srgbClr>
          </a:solidFill>
          <a:ln/>
        </p:spPr>
      </p:sp>
      <p:sp>
        <p:nvSpPr>
          <p:cNvPr id="17" name="Text 15"/>
          <p:cNvSpPr/>
          <p:nvPr/>
        </p:nvSpPr>
        <p:spPr>
          <a:xfrm>
            <a:off x="1060371" y="4384358"/>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000000"/>
                </a:solidFill>
                <a:latin typeface="Source Sans Pro" pitchFamily="34" charset="0"/>
                <a:ea typeface="Source Sans Pro" pitchFamily="34" charset="-122"/>
                <a:cs typeface="Source Sans Pro" pitchFamily="34" charset="-120"/>
              </a:rPr>
              <a:t>🔍</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Google Fact Check API</a:t>
            </a:r>
            <a:endParaRPr lang="en-US" sz="1800" dirty="0"/>
          </a:p>
        </p:txBody>
      </p:sp>
      <p:sp>
        <p:nvSpPr>
          <p:cNvPr id="18" name="Text 16"/>
          <p:cNvSpPr/>
          <p:nvPr/>
        </p:nvSpPr>
        <p:spPr>
          <a:xfrm>
            <a:off x="7552968" y="4384358"/>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External claim verification</a:t>
            </a:r>
            <a:endParaRPr lang="en-US" sz="1800" dirty="0"/>
          </a:p>
        </p:txBody>
      </p:sp>
      <p:sp>
        <p:nvSpPr>
          <p:cNvPr id="19" name="Shape 17"/>
          <p:cNvSpPr/>
          <p:nvPr/>
        </p:nvSpPr>
        <p:spPr>
          <a:xfrm>
            <a:off x="826413" y="4906685"/>
            <a:ext cx="12977574" cy="670322"/>
          </a:xfrm>
          <a:prstGeom prst="rect">
            <a:avLst/>
          </a:prstGeom>
          <a:solidFill>
            <a:srgbClr val="000000">
              <a:alpha val="4000"/>
            </a:srgbClr>
          </a:solidFill>
          <a:ln/>
        </p:spPr>
      </p:sp>
      <p:sp>
        <p:nvSpPr>
          <p:cNvPr id="20" name="Text 18"/>
          <p:cNvSpPr/>
          <p:nvPr/>
        </p:nvSpPr>
        <p:spPr>
          <a:xfrm>
            <a:off x="1060371" y="5054679"/>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000000"/>
                </a:solidFill>
                <a:latin typeface="Source Sans Pro" pitchFamily="34" charset="0"/>
                <a:ea typeface="Source Sans Pro" pitchFamily="34" charset="-122"/>
                <a:cs typeface="Source Sans Pro" pitchFamily="34" charset="-120"/>
              </a:rPr>
              <a:t>🧠</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SHAP</a:t>
            </a:r>
            <a:endParaRPr lang="en-US" sz="1800" dirty="0"/>
          </a:p>
        </p:txBody>
      </p:sp>
      <p:sp>
        <p:nvSpPr>
          <p:cNvPr id="21" name="Text 19"/>
          <p:cNvSpPr/>
          <p:nvPr/>
        </p:nvSpPr>
        <p:spPr>
          <a:xfrm>
            <a:off x="7552968" y="5054679"/>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Model interpretability</a:t>
            </a:r>
            <a:endParaRPr lang="en-US" sz="1800" dirty="0"/>
          </a:p>
        </p:txBody>
      </p:sp>
      <p:sp>
        <p:nvSpPr>
          <p:cNvPr id="22" name="Shape 20"/>
          <p:cNvSpPr/>
          <p:nvPr/>
        </p:nvSpPr>
        <p:spPr>
          <a:xfrm>
            <a:off x="826413" y="5577007"/>
            <a:ext cx="12977574" cy="670322"/>
          </a:xfrm>
          <a:prstGeom prst="rect">
            <a:avLst/>
          </a:prstGeom>
          <a:solidFill>
            <a:srgbClr val="FFFFFF">
              <a:alpha val="4000"/>
            </a:srgbClr>
          </a:solidFill>
          <a:ln/>
        </p:spPr>
      </p:sp>
      <p:sp>
        <p:nvSpPr>
          <p:cNvPr id="23" name="Text 21"/>
          <p:cNvSpPr/>
          <p:nvPr/>
        </p:nvSpPr>
        <p:spPr>
          <a:xfrm>
            <a:off x="1060371" y="5725001"/>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000000"/>
                </a:solidFill>
                <a:latin typeface="Source Sans Pro" pitchFamily="34" charset="0"/>
                <a:ea typeface="Source Sans Pro" pitchFamily="34" charset="-122"/>
                <a:cs typeface="Source Sans Pro" pitchFamily="34" charset="-120"/>
              </a:rPr>
              <a:t>🌎</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Deep Translator</a:t>
            </a:r>
            <a:endParaRPr lang="en-US" sz="1800" dirty="0"/>
          </a:p>
        </p:txBody>
      </p:sp>
      <p:sp>
        <p:nvSpPr>
          <p:cNvPr id="24" name="Text 22"/>
          <p:cNvSpPr/>
          <p:nvPr/>
        </p:nvSpPr>
        <p:spPr>
          <a:xfrm>
            <a:off x="7552968" y="5725001"/>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Translation for multilingual inputs</a:t>
            </a:r>
            <a:endParaRPr lang="en-US" sz="1800" dirty="0"/>
          </a:p>
        </p:txBody>
      </p:sp>
      <p:sp>
        <p:nvSpPr>
          <p:cNvPr id="25" name="Shape 23"/>
          <p:cNvSpPr/>
          <p:nvPr/>
        </p:nvSpPr>
        <p:spPr>
          <a:xfrm>
            <a:off x="826413" y="6247328"/>
            <a:ext cx="12977574" cy="670322"/>
          </a:xfrm>
          <a:prstGeom prst="rect">
            <a:avLst/>
          </a:prstGeom>
          <a:solidFill>
            <a:srgbClr val="000000">
              <a:alpha val="4000"/>
            </a:srgbClr>
          </a:solidFill>
          <a:ln/>
        </p:spPr>
      </p:sp>
      <p:sp>
        <p:nvSpPr>
          <p:cNvPr id="26" name="Text 24"/>
          <p:cNvSpPr/>
          <p:nvPr/>
        </p:nvSpPr>
        <p:spPr>
          <a:xfrm>
            <a:off x="1060371" y="6395323"/>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000000"/>
                </a:solidFill>
                <a:latin typeface="Source Sans Pro" pitchFamily="34" charset="0"/>
                <a:ea typeface="Source Sans Pro" pitchFamily="34" charset="-122"/>
                <a:cs typeface="Source Sans Pro" pitchFamily="34" charset="-120"/>
              </a:rPr>
              <a:t>🧱</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Streamlit</a:t>
            </a:r>
            <a:endParaRPr lang="en-US" sz="1800" dirty="0"/>
          </a:p>
        </p:txBody>
      </p:sp>
      <p:sp>
        <p:nvSpPr>
          <p:cNvPr id="27" name="Text 25"/>
          <p:cNvSpPr/>
          <p:nvPr/>
        </p:nvSpPr>
        <p:spPr>
          <a:xfrm>
            <a:off x="7552968" y="6395323"/>
            <a:ext cx="6017062" cy="374333"/>
          </a:xfrm>
          <a:prstGeom prst="rect">
            <a:avLst/>
          </a:prstGeom>
          <a:noFill/>
          <a:ln/>
        </p:spPr>
        <p:txBody>
          <a:bodyPr wrap="none" lIns="0" tIns="0" rIns="0" bIns="0" rtlCol="0" anchor="t"/>
          <a:lstStyle/>
          <a:p>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User-friendly web interface</a:t>
            </a:r>
            <a:endParaRPr lang="en-US" sz="1800" dirty="0"/>
          </a:p>
        </p:txBody>
      </p:sp>
      <p:sp>
        <p:nvSpPr>
          <p:cNvPr id="28" name="Text 26"/>
          <p:cNvSpPr/>
          <p:nvPr/>
        </p:nvSpPr>
        <p:spPr>
          <a:xfrm>
            <a:off x="818793" y="7188398"/>
            <a:ext cx="12992814" cy="374333"/>
          </a:xfrm>
          <a:prstGeom prst="rect">
            <a:avLst/>
          </a:prstGeom>
          <a:noFill/>
          <a:ln/>
        </p:spPr>
        <p:txBody>
          <a:bodyPr wrap="none" lIns="0" tIns="0" rIns="0" bIns="0" rtlCol="0" anchor="t"/>
          <a:lstStyle/>
          <a:p>
            <a:pPr algn="l" indent="0" marL="0">
              <a:lnSpc>
                <a:spcPts val="2900"/>
              </a:lnSpc>
              <a:buNone/>
            </a:pPr>
            <a:r>
              <a:rPr lang="en-US" sz="1800" b="1" spc="-37" kern="0" dirty="0">
                <a:solidFill>
                  <a:srgbClr val="272525"/>
                </a:solidFill>
                <a:latin typeface="Source Sans Pro" pitchFamily="34" charset="0"/>
                <a:ea typeface="Source Sans Pro" pitchFamily="34" charset="-122"/>
                <a:cs typeface="Source Sans Pro" pitchFamily="34" charset="-120"/>
              </a:rPr>
              <a:t>Dataset Used : </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a:t>
            </a:r>
            <a:pPr algn="l" indent="0" marL="0">
              <a:lnSpc>
                <a:spcPts val="2900"/>
              </a:lnSpc>
              <a:buNone/>
            </a:pPr>
            <a:r>
              <a:rPr lang="en-US" sz="1800" u="sng" spc="-37" kern="0" dirty="0">
                <a:solidFill>
                  <a:srgbClr val="BE49DF"/>
                </a:solidFill>
                <a:latin typeface="Source Sans Pro" pitchFamily="34" charset="0"/>
                <a:ea typeface="Source Sans Pro" pitchFamily="34" charset="-122"/>
                <a:cs typeface="Source Sans Pro" pitchFamily="34" charset="-120"/>
                <a:hlinkClick r:id="rId1" invalidUrl="" action="" tgtFrame="" tooltip="" history="1" highlightClick="0" endSnd="0">
                  <a:extLst>
                    <a:ext uri="{A12FA001-AC4F-418D-AE19-62706E023703}">
                      <ahyp:hlinkClr xmlns:ahyp="http://schemas.microsoft.com/office/drawing/2018/hyperlinkcolor" val="tx"/>
                    </a:ext>
                  </a:extLst>
                </a:hlinkClick>
              </a:rPr>
              <a:t>​fake-and-real-news-dataset​</a:t>
            </a:r>
            <a:pPr algn="l" indent="0" marL="0">
              <a:lnSpc>
                <a:spcPts val="2900"/>
              </a:lnSpc>
              <a:buNone/>
            </a:pPr>
            <a:r>
              <a:rPr lang="en-US" sz="1800" spc="-37" kern="0" dirty="0">
                <a:solidFill>
                  <a:srgbClr val="272525"/>
                </a:solidFill>
                <a:latin typeface="Source Sans Pro" pitchFamily="34" charset="0"/>
                <a:ea typeface="Source Sans Pro" pitchFamily="34" charset="-122"/>
                <a:cs typeface="Source Sans Pro" pitchFamily="34" charset="-120"/>
              </a:rPr>
              <a:t>" from Kaggle.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545431"/>
            <a:ext cx="3379470" cy="422315"/>
          </a:xfrm>
          <a:prstGeom prst="rect">
            <a:avLst/>
          </a:prstGeom>
          <a:noFill/>
          <a:ln/>
        </p:spPr>
        <p:txBody>
          <a:bodyPr wrap="none" lIns="0" tIns="0" rIns="0" bIns="0" rtlCol="0" anchor="t"/>
          <a:lstStyle/>
          <a:p>
            <a:pPr algn="l" indent="0" marL="0">
              <a:lnSpc>
                <a:spcPts val="3300"/>
              </a:lnSpc>
              <a:buNone/>
            </a:pPr>
            <a:r>
              <a:rPr lang="en-US" sz="2650" spc="-53" kern="0" dirty="0">
                <a:solidFill>
                  <a:srgbClr val="000000"/>
                </a:solidFill>
                <a:latin typeface="Source Serif Pro Semi Bold" pitchFamily="34" charset="0"/>
                <a:ea typeface="Source Serif Pro Semi Bold" pitchFamily="34" charset="-122"/>
                <a:cs typeface="Source Serif Pro Semi Bold" pitchFamily="34" charset="-120"/>
              </a:rPr>
              <a:t>System Architecture</a:t>
            </a:r>
            <a:endParaRPr lang="en-US" sz="2650" dirty="0"/>
          </a:p>
        </p:txBody>
      </p:sp>
      <p:pic>
        <p:nvPicPr>
          <p:cNvPr id="3" name="Image 0" descr="preencoded.png">    </p:cNvPr>
          <p:cNvPicPr>
            <a:picLocks noChangeAspect="1"/>
          </p:cNvPicPr>
          <p:nvPr/>
        </p:nvPicPr>
        <p:blipFill>
          <a:blip r:embed="rId1"/>
          <a:stretch>
            <a:fillRect/>
          </a:stretch>
        </p:blipFill>
        <p:spPr>
          <a:xfrm>
            <a:off x="837724" y="2446496"/>
            <a:ext cx="12954952" cy="42376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3077289"/>
            <a:ext cx="5632490" cy="704017"/>
          </a:xfrm>
          <a:prstGeom prst="rect">
            <a:avLst/>
          </a:prstGeom>
          <a:noFill/>
          <a:ln/>
        </p:spPr>
        <p:txBody>
          <a:bodyPr wrap="none" lIns="0" tIns="0" rIns="0" bIns="0" rtlCol="0" anchor="t"/>
          <a:lstStyle/>
          <a:p>
            <a:pPr algn="l" indent="0" marL="0">
              <a:lnSpc>
                <a:spcPts val="5500"/>
              </a:lnSpc>
              <a:buNone/>
            </a:pPr>
            <a:r>
              <a:rPr lang="en-US" sz="4400" spc="-89" kern="0" dirty="0">
                <a:solidFill>
                  <a:srgbClr val="000000"/>
                </a:solidFill>
                <a:latin typeface="Source Serif Pro Semi Bold" pitchFamily="34" charset="0"/>
                <a:ea typeface="Source Serif Pro Semi Bold" pitchFamily="34" charset="-122"/>
                <a:cs typeface="Source Serif Pro Semi Bold" pitchFamily="34" charset="-120"/>
              </a:rPr>
              <a:t>DEMO:</a:t>
            </a:r>
            <a:endParaRPr lang="en-US" sz="4400" dirty="0"/>
          </a:p>
        </p:txBody>
      </p:sp>
      <p:pic>
        <p:nvPicPr>
          <p:cNvPr id="3" name="Image 0" descr="preencoded.png">
            <a:hlinkClick r:id="rId2" tooltip=""/>
          </p:cNvPr>
          <p:cNvPicPr>
            <a:picLocks noChangeAspect="1"/>
          </p:cNvPicPr>
          <p:nvPr/>
        </p:nvPicPr>
        <p:blipFill>
          <a:blip r:embed="rId1"/>
          <a:stretch>
            <a:fillRect/>
          </a:stretch>
        </p:blipFill>
        <p:spPr>
          <a:xfrm>
            <a:off x="837724" y="4260056"/>
            <a:ext cx="12954952" cy="8922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22102" y="488752"/>
            <a:ext cx="2570678" cy="313730"/>
          </a:xfrm>
          <a:prstGeom prst="rect">
            <a:avLst/>
          </a:prstGeom>
          <a:noFill/>
          <a:ln/>
        </p:spPr>
        <p:txBody>
          <a:bodyPr wrap="none" lIns="0" tIns="0" rIns="0" bIns="0" rtlCol="0" anchor="t"/>
          <a:lstStyle/>
          <a:p>
            <a:pPr algn="l" indent="0" marL="0">
              <a:lnSpc>
                <a:spcPts val="2450"/>
              </a:lnSpc>
              <a:buNone/>
            </a:pPr>
            <a:r>
              <a:rPr lang="en-US" sz="1950" spc="-40" kern="0" dirty="0">
                <a:solidFill>
                  <a:srgbClr val="000000"/>
                </a:solidFill>
                <a:latin typeface="Source Serif Pro Semi Bold" pitchFamily="34" charset="0"/>
                <a:ea typeface="Source Serif Pro Semi Bold" pitchFamily="34" charset="-122"/>
                <a:cs typeface="Source Serif Pro Semi Bold" pitchFamily="34" charset="-120"/>
              </a:rPr>
              <a:t>System Latency Metrics</a:t>
            </a:r>
            <a:endParaRPr lang="en-US" sz="1950" dirty="0"/>
          </a:p>
        </p:txBody>
      </p:sp>
      <p:sp>
        <p:nvSpPr>
          <p:cNvPr id="3" name="Shape 1"/>
          <p:cNvSpPr/>
          <p:nvPr/>
        </p:nvSpPr>
        <p:spPr>
          <a:xfrm>
            <a:off x="622102" y="1157883"/>
            <a:ext cx="13386197" cy="3091339"/>
          </a:xfrm>
          <a:prstGeom prst="roundRect">
            <a:avLst>
              <a:gd name="adj" fmla="val 2415"/>
            </a:avLst>
          </a:prstGeom>
          <a:noFill/>
          <a:ln w="7620">
            <a:solidFill>
              <a:srgbClr val="000000">
                <a:alpha val="8000"/>
              </a:srgbClr>
            </a:solidFill>
            <a:prstDash val="solid"/>
          </a:ln>
        </p:spPr>
      </p:sp>
      <p:sp>
        <p:nvSpPr>
          <p:cNvPr id="4" name="Shape 2"/>
          <p:cNvSpPr/>
          <p:nvPr/>
        </p:nvSpPr>
        <p:spPr>
          <a:xfrm>
            <a:off x="629722" y="1165503"/>
            <a:ext cx="13370957" cy="512683"/>
          </a:xfrm>
          <a:prstGeom prst="rect">
            <a:avLst/>
          </a:prstGeom>
          <a:solidFill>
            <a:srgbClr val="FFFFFF">
              <a:alpha val="4000"/>
            </a:srgbClr>
          </a:solidFill>
          <a:ln/>
        </p:spPr>
      </p:sp>
      <p:sp>
        <p:nvSpPr>
          <p:cNvPr id="5" name="Text 3"/>
          <p:cNvSpPr/>
          <p:nvPr/>
        </p:nvSpPr>
        <p:spPr>
          <a:xfrm>
            <a:off x="807363" y="1279684"/>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Component</a:t>
            </a:r>
            <a:endParaRPr lang="en-US" sz="1350" dirty="0"/>
          </a:p>
        </p:txBody>
      </p:sp>
      <p:sp>
        <p:nvSpPr>
          <p:cNvPr id="6" name="Text 4"/>
          <p:cNvSpPr/>
          <p:nvPr/>
        </p:nvSpPr>
        <p:spPr>
          <a:xfrm>
            <a:off x="7496651" y="1279684"/>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Latency</a:t>
            </a:r>
            <a:endParaRPr lang="en-US" sz="1350" dirty="0"/>
          </a:p>
        </p:txBody>
      </p:sp>
      <p:sp>
        <p:nvSpPr>
          <p:cNvPr id="7" name="Shape 5"/>
          <p:cNvSpPr/>
          <p:nvPr/>
        </p:nvSpPr>
        <p:spPr>
          <a:xfrm>
            <a:off x="629722" y="1678186"/>
            <a:ext cx="13370957" cy="512683"/>
          </a:xfrm>
          <a:prstGeom prst="rect">
            <a:avLst/>
          </a:prstGeom>
          <a:solidFill>
            <a:srgbClr val="000000">
              <a:alpha val="4000"/>
            </a:srgbClr>
          </a:solidFill>
          <a:ln/>
        </p:spPr>
      </p:sp>
      <p:sp>
        <p:nvSpPr>
          <p:cNvPr id="8" name="Text 6"/>
          <p:cNvSpPr/>
          <p:nvPr/>
        </p:nvSpPr>
        <p:spPr>
          <a:xfrm>
            <a:off x="807363" y="1792367"/>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Prediction</a:t>
            </a:r>
            <a:endParaRPr lang="en-US" sz="1350" dirty="0"/>
          </a:p>
        </p:txBody>
      </p:sp>
      <p:sp>
        <p:nvSpPr>
          <p:cNvPr id="9" name="Text 7"/>
          <p:cNvSpPr/>
          <p:nvPr/>
        </p:nvSpPr>
        <p:spPr>
          <a:xfrm>
            <a:off x="7496651" y="1792367"/>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1.45 seconds</a:t>
            </a:r>
            <a:endParaRPr lang="en-US" sz="1350" dirty="0"/>
          </a:p>
        </p:txBody>
      </p:sp>
      <p:sp>
        <p:nvSpPr>
          <p:cNvPr id="10" name="Shape 8"/>
          <p:cNvSpPr/>
          <p:nvPr/>
        </p:nvSpPr>
        <p:spPr>
          <a:xfrm>
            <a:off x="629722" y="2190869"/>
            <a:ext cx="13370957" cy="512683"/>
          </a:xfrm>
          <a:prstGeom prst="rect">
            <a:avLst/>
          </a:prstGeom>
          <a:solidFill>
            <a:srgbClr val="FFFFFF">
              <a:alpha val="4000"/>
            </a:srgbClr>
          </a:solidFill>
          <a:ln/>
        </p:spPr>
      </p:sp>
      <p:sp>
        <p:nvSpPr>
          <p:cNvPr id="11" name="Text 9"/>
          <p:cNvSpPr/>
          <p:nvPr/>
        </p:nvSpPr>
        <p:spPr>
          <a:xfrm>
            <a:off x="807363" y="2305050"/>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Summarization</a:t>
            </a:r>
            <a:endParaRPr lang="en-US" sz="1350" dirty="0"/>
          </a:p>
        </p:txBody>
      </p:sp>
      <p:sp>
        <p:nvSpPr>
          <p:cNvPr id="12" name="Text 10"/>
          <p:cNvSpPr/>
          <p:nvPr/>
        </p:nvSpPr>
        <p:spPr>
          <a:xfrm>
            <a:off x="7496651" y="2305050"/>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8.91 seconds</a:t>
            </a:r>
            <a:endParaRPr lang="en-US" sz="1350" dirty="0"/>
          </a:p>
        </p:txBody>
      </p:sp>
      <p:sp>
        <p:nvSpPr>
          <p:cNvPr id="13" name="Shape 11"/>
          <p:cNvSpPr/>
          <p:nvPr/>
        </p:nvSpPr>
        <p:spPr>
          <a:xfrm>
            <a:off x="629722" y="2703552"/>
            <a:ext cx="13370957" cy="512683"/>
          </a:xfrm>
          <a:prstGeom prst="rect">
            <a:avLst/>
          </a:prstGeom>
          <a:solidFill>
            <a:srgbClr val="000000">
              <a:alpha val="4000"/>
            </a:srgbClr>
          </a:solidFill>
          <a:ln/>
        </p:spPr>
      </p:sp>
      <p:sp>
        <p:nvSpPr>
          <p:cNvPr id="14" name="Text 12"/>
          <p:cNvSpPr/>
          <p:nvPr/>
        </p:nvSpPr>
        <p:spPr>
          <a:xfrm>
            <a:off x="807363" y="2817733"/>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 Optimized Query Generation</a:t>
            </a:r>
            <a:endParaRPr lang="en-US" sz="1350" dirty="0"/>
          </a:p>
        </p:txBody>
      </p:sp>
      <p:sp>
        <p:nvSpPr>
          <p:cNvPr id="15" name="Text 13"/>
          <p:cNvSpPr/>
          <p:nvPr/>
        </p:nvSpPr>
        <p:spPr>
          <a:xfrm>
            <a:off x="7496651" y="2817733"/>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1.98 seconds</a:t>
            </a:r>
            <a:endParaRPr lang="en-US" sz="1350" dirty="0"/>
          </a:p>
        </p:txBody>
      </p:sp>
      <p:sp>
        <p:nvSpPr>
          <p:cNvPr id="16" name="Shape 14"/>
          <p:cNvSpPr/>
          <p:nvPr/>
        </p:nvSpPr>
        <p:spPr>
          <a:xfrm>
            <a:off x="629722" y="3216235"/>
            <a:ext cx="13370957" cy="512683"/>
          </a:xfrm>
          <a:prstGeom prst="rect">
            <a:avLst/>
          </a:prstGeom>
          <a:solidFill>
            <a:srgbClr val="FFFFFF">
              <a:alpha val="4000"/>
            </a:srgbClr>
          </a:solidFill>
          <a:ln/>
        </p:spPr>
      </p:sp>
      <p:sp>
        <p:nvSpPr>
          <p:cNvPr id="17" name="Text 15"/>
          <p:cNvSpPr/>
          <p:nvPr/>
        </p:nvSpPr>
        <p:spPr>
          <a:xfrm>
            <a:off x="807363" y="3330416"/>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 Google Fact Check API</a:t>
            </a:r>
            <a:endParaRPr lang="en-US" sz="1350" dirty="0"/>
          </a:p>
        </p:txBody>
      </p:sp>
      <p:sp>
        <p:nvSpPr>
          <p:cNvPr id="18" name="Text 16"/>
          <p:cNvSpPr/>
          <p:nvPr/>
        </p:nvSpPr>
        <p:spPr>
          <a:xfrm>
            <a:off x="7496651" y="3330416"/>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0.61 seconds</a:t>
            </a:r>
            <a:endParaRPr lang="en-US" sz="1350" dirty="0"/>
          </a:p>
        </p:txBody>
      </p:sp>
      <p:sp>
        <p:nvSpPr>
          <p:cNvPr id="19" name="Shape 17"/>
          <p:cNvSpPr/>
          <p:nvPr/>
        </p:nvSpPr>
        <p:spPr>
          <a:xfrm>
            <a:off x="629722" y="3728918"/>
            <a:ext cx="13370957" cy="512683"/>
          </a:xfrm>
          <a:prstGeom prst="rect">
            <a:avLst/>
          </a:prstGeom>
          <a:solidFill>
            <a:srgbClr val="000000">
              <a:alpha val="4000"/>
            </a:srgbClr>
          </a:solidFill>
          <a:ln/>
        </p:spPr>
      </p:sp>
      <p:sp>
        <p:nvSpPr>
          <p:cNvPr id="20" name="Text 18"/>
          <p:cNvSpPr/>
          <p:nvPr/>
        </p:nvSpPr>
        <p:spPr>
          <a:xfrm>
            <a:off x="807363" y="3843099"/>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Gemini Fact Check Process</a:t>
            </a:r>
            <a:endParaRPr lang="en-US" sz="1350" dirty="0"/>
          </a:p>
        </p:txBody>
      </p:sp>
      <p:sp>
        <p:nvSpPr>
          <p:cNvPr id="21" name="Text 19"/>
          <p:cNvSpPr/>
          <p:nvPr/>
        </p:nvSpPr>
        <p:spPr>
          <a:xfrm>
            <a:off x="7496651" y="3843099"/>
            <a:ext cx="6326386" cy="284321"/>
          </a:xfrm>
          <a:prstGeom prst="rect">
            <a:avLst/>
          </a:prstGeom>
          <a:noFill/>
          <a:ln/>
        </p:spPr>
        <p:txBody>
          <a:bodyPr wrap="none" lIns="0" tIns="0" rIns="0" bIns="0" rtlCol="0" anchor="t"/>
          <a:lstStyle/>
          <a:p>
            <a:pPr algn="l" indent="0" marL="0">
              <a:lnSpc>
                <a:spcPts val="2200"/>
              </a:lnSpc>
              <a:buNone/>
            </a:pPr>
            <a:r>
              <a:rPr lang="en-US" sz="1350" spc="-28" kern="0" dirty="0">
                <a:solidFill>
                  <a:srgbClr val="272525"/>
                </a:solidFill>
                <a:latin typeface="Source Sans Pro" pitchFamily="34" charset="0"/>
                <a:ea typeface="Source Sans Pro" pitchFamily="34" charset="-122"/>
                <a:cs typeface="Source Sans Pro" pitchFamily="34" charset="-120"/>
              </a:rPr>
              <a:t>3.04 seconds</a:t>
            </a:r>
            <a:endParaRPr lang="en-US" sz="1350" dirty="0"/>
          </a:p>
        </p:txBody>
      </p:sp>
      <p:sp>
        <p:nvSpPr>
          <p:cNvPr id="22" name="Text 20"/>
          <p:cNvSpPr/>
          <p:nvPr/>
        </p:nvSpPr>
        <p:spPr>
          <a:xfrm>
            <a:off x="622102" y="4515803"/>
            <a:ext cx="2991803" cy="313730"/>
          </a:xfrm>
          <a:prstGeom prst="rect">
            <a:avLst/>
          </a:prstGeom>
          <a:noFill/>
          <a:ln/>
        </p:spPr>
        <p:txBody>
          <a:bodyPr wrap="none" lIns="0" tIns="0" rIns="0" bIns="0" rtlCol="0" anchor="t"/>
          <a:lstStyle/>
          <a:p>
            <a:pPr algn="l" indent="0" marL="0">
              <a:lnSpc>
                <a:spcPts val="2450"/>
              </a:lnSpc>
              <a:buNone/>
            </a:pPr>
            <a:r>
              <a:rPr lang="en-US" sz="1950" b="1" spc="-40" kern="0" dirty="0">
                <a:solidFill>
                  <a:srgbClr val="000000"/>
                </a:solidFill>
                <a:latin typeface="Source Serif Pro Semi Bold" pitchFamily="34" charset="0"/>
                <a:ea typeface="Source Serif Pro Semi Bold" pitchFamily="34" charset="-122"/>
                <a:cs typeface="Source Serif Pro Semi Bold" pitchFamily="34" charset="-120"/>
              </a:rPr>
              <a:t>Model – Evaluation Metrics</a:t>
            </a:r>
            <a:endParaRPr lang="en-US" sz="1950" dirty="0"/>
          </a:p>
        </p:txBody>
      </p:sp>
      <p:pic>
        <p:nvPicPr>
          <p:cNvPr id="23" name="Image 0" descr="preencoded.png">    </p:cNvPr>
          <p:cNvPicPr>
            <a:picLocks noChangeAspect="1"/>
          </p:cNvPicPr>
          <p:nvPr/>
        </p:nvPicPr>
        <p:blipFill>
          <a:blip r:embed="rId1"/>
          <a:stretch>
            <a:fillRect/>
          </a:stretch>
        </p:blipFill>
        <p:spPr>
          <a:xfrm>
            <a:off x="5242560" y="5096113"/>
            <a:ext cx="4145280" cy="26571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827723"/>
            <a:ext cx="6882051" cy="422315"/>
          </a:xfrm>
          <a:prstGeom prst="rect">
            <a:avLst/>
          </a:prstGeom>
          <a:noFill/>
          <a:ln/>
        </p:spPr>
        <p:txBody>
          <a:bodyPr wrap="none" lIns="0" tIns="0" rIns="0" bIns="0" rtlCol="0" anchor="t"/>
          <a:lstStyle/>
          <a:p>
            <a:pPr algn="l" indent="0" marL="0">
              <a:lnSpc>
                <a:spcPts val="3300"/>
              </a:lnSpc>
              <a:buNone/>
            </a:pPr>
            <a:r>
              <a:rPr lang="en-US" sz="2650" b="1" spc="-53" kern="0" dirty="0">
                <a:solidFill>
                  <a:srgbClr val="000000"/>
                </a:solidFill>
                <a:latin typeface="Source Serif Pro Semi Bold" pitchFamily="34" charset="0"/>
                <a:ea typeface="Source Serif Pro Semi Bold" pitchFamily="34" charset="-122"/>
                <a:cs typeface="Source Serif Pro Semi Bold" pitchFamily="34" charset="-120"/>
              </a:rPr>
              <a:t>Integration into Existing Broadcast Workflows</a:t>
            </a:r>
            <a:endParaRPr lang="en-US" sz="2650" dirty="0"/>
          </a:p>
        </p:txBody>
      </p:sp>
      <p:sp>
        <p:nvSpPr>
          <p:cNvPr id="4" name="Text 1"/>
          <p:cNvSpPr/>
          <p:nvPr/>
        </p:nvSpPr>
        <p:spPr>
          <a:xfrm>
            <a:off x="837724" y="1519238"/>
            <a:ext cx="7468553" cy="766048"/>
          </a:xfrm>
          <a:prstGeom prst="rect">
            <a:avLst/>
          </a:prstGeom>
          <a:noFill/>
          <a:ln/>
        </p:spPr>
        <p:txBody>
          <a:bodyPr wrap="square" lIns="0" tIns="0" rIns="0" bIns="0" rtlCol="0" anchor="t"/>
          <a:lstStyle/>
          <a:p>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Our solution is designed to seamlessly plug into existing digital journalism and broadcast environments. Here's how it can be integrated:</a:t>
            </a:r>
            <a:endParaRPr lang="en-US" sz="1850" dirty="0"/>
          </a:p>
        </p:txBody>
      </p:sp>
      <p:sp>
        <p:nvSpPr>
          <p:cNvPr id="5" name="Text 2"/>
          <p:cNvSpPr/>
          <p:nvPr/>
        </p:nvSpPr>
        <p:spPr>
          <a:xfrm>
            <a:off x="837724" y="2554486"/>
            <a:ext cx="7468553" cy="1149072"/>
          </a:xfrm>
          <a:prstGeom prst="rect">
            <a:avLst/>
          </a:prstGeom>
          <a:noFill/>
          <a:ln/>
        </p:spPr>
        <p:txBody>
          <a:bodyPr wrap="squar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API Integration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The app can be deployed as an internal tool or integrated via APIs to allow newsrooms to automatically vet stories before publication or broadcasting.</a:t>
            </a:r>
            <a:endParaRPr lang="en-US" sz="1850" dirty="0"/>
          </a:p>
        </p:txBody>
      </p:sp>
      <p:sp>
        <p:nvSpPr>
          <p:cNvPr id="6" name="Text 3"/>
          <p:cNvSpPr/>
          <p:nvPr/>
        </p:nvSpPr>
        <p:spPr>
          <a:xfrm>
            <a:off x="837724" y="3787259"/>
            <a:ext cx="7468553" cy="766048"/>
          </a:xfrm>
          <a:prstGeom prst="rect">
            <a:avLst/>
          </a:prstGeom>
          <a:noFill/>
          <a:ln/>
        </p:spPr>
        <p:txBody>
          <a:bodyPr wrap="squar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CMS Plugin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 plugin can be built for popular CMS platforms (like WordPress, Drupal) to auto-analyze submitted articles.</a:t>
            </a:r>
            <a:endParaRPr lang="en-US" sz="1850" dirty="0"/>
          </a:p>
        </p:txBody>
      </p:sp>
      <p:sp>
        <p:nvSpPr>
          <p:cNvPr id="7" name="Text 4"/>
          <p:cNvSpPr/>
          <p:nvPr/>
        </p:nvSpPr>
        <p:spPr>
          <a:xfrm>
            <a:off x="837724" y="4637008"/>
            <a:ext cx="7468553" cy="1149072"/>
          </a:xfrm>
          <a:prstGeom prst="rect">
            <a:avLst/>
          </a:prstGeom>
          <a:noFill/>
          <a:ln/>
        </p:spPr>
        <p:txBody>
          <a:bodyPr wrap="squar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Editor Dashboard</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Journalists and editors can input story drafts to get real-time validation, summaries, and evidence reports—enabling quick editorial decisions.</a:t>
            </a:r>
            <a:endParaRPr lang="en-US" sz="1850" dirty="0"/>
          </a:p>
        </p:txBody>
      </p:sp>
      <p:sp>
        <p:nvSpPr>
          <p:cNvPr id="8" name="Text 5"/>
          <p:cNvSpPr/>
          <p:nvPr/>
        </p:nvSpPr>
        <p:spPr>
          <a:xfrm>
            <a:off x="837724" y="5869781"/>
            <a:ext cx="7468553" cy="1532096"/>
          </a:xfrm>
          <a:prstGeom prst="rect">
            <a:avLst/>
          </a:prstGeom>
          <a:noFill/>
          <a:ln/>
        </p:spPr>
        <p:txBody>
          <a:bodyPr wrap="squar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Live Fact-Checking: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While a live debate or news event is happening, our app listens to what's being said. The Gemini model quickly picks out important claims, and the app checks in the background to see if those claims are true or false — all in real time.</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912852"/>
            <a:ext cx="4505920" cy="563285"/>
          </a:xfrm>
          <a:prstGeom prst="rect">
            <a:avLst/>
          </a:prstGeom>
          <a:noFill/>
          <a:ln/>
        </p:spPr>
        <p:txBody>
          <a:bodyPr wrap="none" lIns="0" tIns="0" rIns="0" bIns="0" rtlCol="0" anchor="t"/>
          <a:lstStyle/>
          <a:p>
            <a:pPr algn="l" indent="0" marL="0">
              <a:lnSpc>
                <a:spcPts val="4400"/>
              </a:lnSpc>
              <a:buNone/>
            </a:pPr>
            <a:r>
              <a:rPr lang="en-US" sz="3500" b="1" spc="-71" kern="0" dirty="0">
                <a:solidFill>
                  <a:srgbClr val="000000"/>
                </a:solidFill>
                <a:latin typeface="Source Serif Pro Semi Bold" pitchFamily="34" charset="0"/>
                <a:ea typeface="Source Serif Pro Semi Bold" pitchFamily="34" charset="-122"/>
                <a:cs typeface="Source Serif Pro Semi Bold" pitchFamily="34" charset="-120"/>
              </a:rPr>
              <a:t>Future Enhancements </a:t>
            </a:r>
            <a:endParaRPr lang="en-US" sz="3500" dirty="0"/>
          </a:p>
        </p:txBody>
      </p:sp>
      <p:sp>
        <p:nvSpPr>
          <p:cNvPr id="4" name="Text 1"/>
          <p:cNvSpPr/>
          <p:nvPr/>
        </p:nvSpPr>
        <p:spPr>
          <a:xfrm>
            <a:off x="6324124" y="1745337"/>
            <a:ext cx="7468553" cy="1532096"/>
          </a:xfrm>
          <a:prstGeom prst="rect">
            <a:avLst/>
          </a:prstGeom>
          <a:noFill/>
          <a:ln/>
        </p:spPr>
        <p:txBody>
          <a:bodyPr wrap="square" lIns="0" tIns="0" rIns="0" bIns="0" rtlCol="0" anchor="t"/>
          <a:lstStyle/>
          <a:p>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Future developments will focus on enhancing the tool's capabilities, including expanding language support, integrating with social media platforms, and developing personalized learning modules to educate users about fake news identification</a:t>
            </a:r>
            <a:endParaRPr lang="en-US" sz="1850" dirty="0"/>
          </a:p>
        </p:txBody>
      </p:sp>
      <p:sp>
        <p:nvSpPr>
          <p:cNvPr id="5" name="Text 2"/>
          <p:cNvSpPr/>
          <p:nvPr/>
        </p:nvSpPr>
        <p:spPr>
          <a:xfrm>
            <a:off x="6324124" y="3546634"/>
            <a:ext cx="7468553" cy="766048"/>
          </a:xfrm>
          <a:prstGeom prst="rect">
            <a:avLst/>
          </a:prstGeom>
          <a:noFill/>
          <a:ln/>
        </p:spPr>
        <p:txBody>
          <a:bodyPr wrap="squar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Apache Kafka Integration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Real-time streaming support for handling live news feeds and broadcasts.</a:t>
            </a:r>
            <a:endParaRPr lang="en-US" sz="1850" dirty="0"/>
          </a:p>
        </p:txBody>
      </p:sp>
      <p:sp>
        <p:nvSpPr>
          <p:cNvPr id="6" name="Text 3"/>
          <p:cNvSpPr/>
          <p:nvPr/>
        </p:nvSpPr>
        <p:spPr>
          <a:xfrm>
            <a:off x="6324124" y="4396383"/>
            <a:ext cx="7468553" cy="766048"/>
          </a:xfrm>
          <a:prstGeom prst="rect">
            <a:avLst/>
          </a:prstGeom>
          <a:noFill/>
          <a:ln/>
        </p:spPr>
        <p:txBody>
          <a:bodyPr wrap="squar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Cross-Media Detection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Identify misinformation in text, images (memes), and video subtitles.</a:t>
            </a:r>
            <a:endParaRPr lang="en-US" sz="1850" dirty="0"/>
          </a:p>
        </p:txBody>
      </p:sp>
      <p:sp>
        <p:nvSpPr>
          <p:cNvPr id="7" name="Text 4"/>
          <p:cNvSpPr/>
          <p:nvPr/>
        </p:nvSpPr>
        <p:spPr>
          <a:xfrm>
            <a:off x="6324124" y="5246132"/>
            <a:ext cx="7468553" cy="766048"/>
          </a:xfrm>
          <a:prstGeom prst="rect">
            <a:avLst/>
          </a:prstGeom>
          <a:noFill/>
          <a:ln/>
        </p:spPr>
        <p:txBody>
          <a:bodyPr wrap="squar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Multilingual Support Expansion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Enhance detection in regional and low-resource languages.</a:t>
            </a:r>
            <a:endParaRPr lang="en-US" sz="1850" dirty="0"/>
          </a:p>
        </p:txBody>
      </p:sp>
      <p:sp>
        <p:nvSpPr>
          <p:cNvPr id="8" name="Text 5"/>
          <p:cNvSpPr/>
          <p:nvPr/>
        </p:nvSpPr>
        <p:spPr>
          <a:xfrm>
            <a:off x="6324124" y="6281380"/>
            <a:ext cx="7468553" cy="383024"/>
          </a:xfrm>
          <a:prstGeom prst="rect">
            <a:avLst/>
          </a:prstGeom>
          <a:noFill/>
          <a:ln/>
        </p:spPr>
        <p:txBody>
          <a:bodyPr wrap="none" lIns="0" tIns="0" rIns="0" bIns="0" rtlCol="0" anchor="t"/>
          <a:lstStyle/>
          <a:p>
            <a:pPr algn="l" indent="0" marL="0">
              <a:lnSpc>
                <a:spcPts val="3000"/>
              </a:lnSpc>
              <a:buNone/>
            </a:pPr>
            <a:endParaRPr lang="en-US" sz="1850" dirty="0"/>
          </a:p>
        </p:txBody>
      </p:sp>
      <p:sp>
        <p:nvSpPr>
          <p:cNvPr id="9" name="Text 6"/>
          <p:cNvSpPr/>
          <p:nvPr/>
        </p:nvSpPr>
        <p:spPr>
          <a:xfrm>
            <a:off x="6324124" y="6933605"/>
            <a:ext cx="7468553"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59951" y="441127"/>
            <a:ext cx="6656903" cy="376476"/>
          </a:xfrm>
          <a:prstGeom prst="rect">
            <a:avLst/>
          </a:prstGeom>
          <a:noFill/>
          <a:ln/>
        </p:spPr>
        <p:txBody>
          <a:bodyPr wrap="none" lIns="0" tIns="0" rIns="0" bIns="0" rtlCol="0" anchor="t"/>
          <a:lstStyle/>
          <a:p>
            <a:pPr algn="l" indent="0" marL="0">
              <a:lnSpc>
                <a:spcPts val="2950"/>
              </a:lnSpc>
              <a:buNone/>
            </a:pPr>
            <a:r>
              <a:rPr lang="en-US" sz="2350" b="1" spc="-47" kern="0" dirty="0">
                <a:solidFill>
                  <a:srgbClr val="000000"/>
                </a:solidFill>
                <a:latin typeface="Source Serif Pro Semi Bold" pitchFamily="34" charset="0"/>
                <a:ea typeface="Source Serif Pro Semi Bold" pitchFamily="34" charset="-122"/>
                <a:cs typeface="Source Serif Pro Semi Bold" pitchFamily="34" charset="-120"/>
              </a:rPr>
              <a:t>FakeShield – Roadmap for Scaling &amp; Improvement</a:t>
            </a:r>
            <a:endParaRPr lang="en-US" sz="2350" dirty="0"/>
          </a:p>
        </p:txBody>
      </p:sp>
      <p:sp>
        <p:nvSpPr>
          <p:cNvPr id="3" name="Text 1"/>
          <p:cNvSpPr/>
          <p:nvPr/>
        </p:nvSpPr>
        <p:spPr>
          <a:xfrm>
            <a:off x="559951" y="977503"/>
            <a:ext cx="2972514" cy="282297"/>
          </a:xfrm>
          <a:prstGeom prst="rect">
            <a:avLst/>
          </a:prstGeom>
          <a:noFill/>
          <a:ln/>
        </p:spPr>
        <p:txBody>
          <a:bodyPr wrap="none" lIns="0" tIns="0" rIns="0" bIns="0" rtlCol="0" anchor="t"/>
          <a:lstStyle/>
          <a:p>
            <a:pPr algn="l" indent="0" marL="0">
              <a:lnSpc>
                <a:spcPts val="2200"/>
              </a:lnSpc>
              <a:buNone/>
            </a:pPr>
            <a:r>
              <a:rPr lang="en-US" sz="1750" spc="-36" kern="0" dirty="0">
                <a:solidFill>
                  <a:srgbClr val="000000"/>
                </a:solidFill>
                <a:latin typeface="Source Serif Pro Semi Bold" pitchFamily="34" charset="0"/>
                <a:ea typeface="Source Serif Pro Semi Bold" pitchFamily="34" charset="-122"/>
                <a:cs typeface="Source Serif Pro Semi Bold" pitchFamily="34" charset="-120"/>
              </a:rPr>
              <a:t>Phase 1: System Enhancement</a:t>
            </a:r>
            <a:endParaRPr lang="en-US" sz="1750" dirty="0"/>
          </a:p>
        </p:txBody>
      </p:sp>
      <p:sp>
        <p:nvSpPr>
          <p:cNvPr id="4" name="Text 2"/>
          <p:cNvSpPr/>
          <p:nvPr/>
        </p:nvSpPr>
        <p:spPr>
          <a:xfrm>
            <a:off x="559951" y="1499711"/>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Multilingual news detection (regional &amp; global languages)</a:t>
            </a:r>
            <a:endParaRPr lang="en-US" sz="1250" dirty="0"/>
          </a:p>
        </p:txBody>
      </p:sp>
      <p:sp>
        <p:nvSpPr>
          <p:cNvPr id="5" name="Text 3"/>
          <p:cNvSpPr/>
          <p:nvPr/>
        </p:nvSpPr>
        <p:spPr>
          <a:xfrm>
            <a:off x="559951" y="1811655"/>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Larger, diverse datasets from global fact-checking bodies</a:t>
            </a:r>
            <a:endParaRPr lang="en-US" sz="1250" dirty="0"/>
          </a:p>
        </p:txBody>
      </p:sp>
      <p:sp>
        <p:nvSpPr>
          <p:cNvPr id="6" name="Text 4"/>
          <p:cNvSpPr/>
          <p:nvPr/>
        </p:nvSpPr>
        <p:spPr>
          <a:xfrm>
            <a:off x="559951" y="2123599"/>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Enhanced model accuracy with fine-tuned transformers &amp; ensembles</a:t>
            </a:r>
            <a:endParaRPr lang="en-US" sz="1250" dirty="0"/>
          </a:p>
        </p:txBody>
      </p:sp>
      <p:sp>
        <p:nvSpPr>
          <p:cNvPr id="7" name="Text 5"/>
          <p:cNvSpPr/>
          <p:nvPr/>
        </p:nvSpPr>
        <p:spPr>
          <a:xfrm>
            <a:off x="559951" y="2435543"/>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Natural-language explanations (Explainable AI)</a:t>
            </a:r>
            <a:endParaRPr lang="en-US" sz="1250" dirty="0"/>
          </a:p>
        </p:txBody>
      </p:sp>
      <p:sp>
        <p:nvSpPr>
          <p:cNvPr id="8" name="Text 6"/>
          <p:cNvSpPr/>
          <p:nvPr/>
        </p:nvSpPr>
        <p:spPr>
          <a:xfrm>
            <a:off x="559951" y="2931438"/>
            <a:ext cx="2500670" cy="235268"/>
          </a:xfrm>
          <a:prstGeom prst="rect">
            <a:avLst/>
          </a:prstGeom>
          <a:noFill/>
          <a:ln/>
        </p:spPr>
        <p:txBody>
          <a:bodyPr wrap="none" lIns="0" tIns="0" rIns="0" bIns="0" rtlCol="0" anchor="t"/>
          <a:lstStyle/>
          <a:p>
            <a:pPr algn="l" indent="0" marL="0">
              <a:lnSpc>
                <a:spcPts val="1850"/>
              </a:lnSpc>
              <a:buNone/>
            </a:pPr>
            <a:r>
              <a:rPr lang="en-US" sz="1450" spc="-30" kern="0" dirty="0">
                <a:solidFill>
                  <a:srgbClr val="000000"/>
                </a:solidFill>
                <a:latin typeface="Source Serif Pro Semi Bold" pitchFamily="34" charset="0"/>
                <a:ea typeface="Source Serif Pro Semi Bold" pitchFamily="34" charset="-122"/>
                <a:cs typeface="Source Serif Pro Semi Bold" pitchFamily="34" charset="-120"/>
              </a:rPr>
              <a:t>Phase 2: Real-Time Integration</a:t>
            </a:r>
            <a:endParaRPr lang="en-US" sz="1450" dirty="0"/>
          </a:p>
        </p:txBody>
      </p:sp>
      <p:sp>
        <p:nvSpPr>
          <p:cNvPr id="9" name="Text 7"/>
          <p:cNvSpPr/>
          <p:nvPr/>
        </p:nvSpPr>
        <p:spPr>
          <a:xfrm>
            <a:off x="559951" y="3406616"/>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Apache Kafka &amp; Spark Streaming for real-time processing</a:t>
            </a:r>
            <a:endParaRPr lang="en-US" sz="1250" dirty="0"/>
          </a:p>
        </p:txBody>
      </p:sp>
      <p:sp>
        <p:nvSpPr>
          <p:cNvPr id="10" name="Text 8"/>
          <p:cNvSpPr/>
          <p:nvPr/>
        </p:nvSpPr>
        <p:spPr>
          <a:xfrm>
            <a:off x="559951" y="3718560"/>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CMS &amp; newsroom integration for live TV/radio verification</a:t>
            </a:r>
            <a:endParaRPr lang="en-US" sz="1250" dirty="0"/>
          </a:p>
        </p:txBody>
      </p:sp>
      <p:sp>
        <p:nvSpPr>
          <p:cNvPr id="11" name="Text 9"/>
          <p:cNvSpPr/>
          <p:nvPr/>
        </p:nvSpPr>
        <p:spPr>
          <a:xfrm>
            <a:off x="559951" y="4030504"/>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Voice-to-Text pipelines for verifying spoken news in live broadcasts</a:t>
            </a:r>
            <a:endParaRPr lang="en-US" sz="1250" dirty="0"/>
          </a:p>
        </p:txBody>
      </p:sp>
      <p:sp>
        <p:nvSpPr>
          <p:cNvPr id="12" name="Text 10"/>
          <p:cNvSpPr/>
          <p:nvPr/>
        </p:nvSpPr>
        <p:spPr>
          <a:xfrm>
            <a:off x="559951" y="4526399"/>
            <a:ext cx="2387679" cy="235268"/>
          </a:xfrm>
          <a:prstGeom prst="rect">
            <a:avLst/>
          </a:prstGeom>
          <a:noFill/>
          <a:ln/>
        </p:spPr>
        <p:txBody>
          <a:bodyPr wrap="none" lIns="0" tIns="0" rIns="0" bIns="0" rtlCol="0" anchor="t"/>
          <a:lstStyle/>
          <a:p>
            <a:pPr algn="l" indent="0" marL="0">
              <a:lnSpc>
                <a:spcPts val="1850"/>
              </a:lnSpc>
              <a:buNone/>
            </a:pPr>
            <a:r>
              <a:rPr lang="en-US" sz="1450" spc="-30" kern="0" dirty="0">
                <a:solidFill>
                  <a:srgbClr val="000000"/>
                </a:solidFill>
                <a:latin typeface="Source Serif Pro Semi Bold" pitchFamily="34" charset="0"/>
                <a:ea typeface="Source Serif Pro Semi Bold" pitchFamily="34" charset="-122"/>
                <a:cs typeface="Source Serif Pro Semi Bold" pitchFamily="34" charset="-120"/>
              </a:rPr>
              <a:t> Phase 3: Scale &amp; Deployment</a:t>
            </a:r>
            <a:endParaRPr lang="en-US" sz="1450" dirty="0"/>
          </a:p>
        </p:txBody>
      </p:sp>
      <p:sp>
        <p:nvSpPr>
          <p:cNvPr id="13" name="Text 11"/>
          <p:cNvSpPr/>
          <p:nvPr/>
        </p:nvSpPr>
        <p:spPr>
          <a:xfrm>
            <a:off x="559951" y="5001578"/>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Cloud-based deployment (AWS/GCP) with autoscaling</a:t>
            </a:r>
            <a:endParaRPr lang="en-US" sz="1250" dirty="0"/>
          </a:p>
        </p:txBody>
      </p:sp>
      <p:sp>
        <p:nvSpPr>
          <p:cNvPr id="14" name="Text 12"/>
          <p:cNvSpPr/>
          <p:nvPr/>
        </p:nvSpPr>
        <p:spPr>
          <a:xfrm>
            <a:off x="559951" y="5313521"/>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REST API access + browser extensions &amp; mobile app</a:t>
            </a:r>
            <a:endParaRPr lang="en-US" sz="1250" dirty="0"/>
          </a:p>
        </p:txBody>
      </p:sp>
      <p:sp>
        <p:nvSpPr>
          <p:cNvPr id="15" name="Text 13"/>
          <p:cNvSpPr/>
          <p:nvPr/>
        </p:nvSpPr>
        <p:spPr>
          <a:xfrm>
            <a:off x="559951" y="5625465"/>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Multi-organization access (newsrooms, agencies, social platforms)</a:t>
            </a:r>
            <a:endParaRPr lang="en-US" sz="1250" dirty="0"/>
          </a:p>
        </p:txBody>
      </p:sp>
      <p:sp>
        <p:nvSpPr>
          <p:cNvPr id="16" name="Text 14"/>
          <p:cNvSpPr/>
          <p:nvPr/>
        </p:nvSpPr>
        <p:spPr>
          <a:xfrm>
            <a:off x="559951" y="6121360"/>
            <a:ext cx="2514243" cy="235268"/>
          </a:xfrm>
          <a:prstGeom prst="rect">
            <a:avLst/>
          </a:prstGeom>
          <a:noFill/>
          <a:ln/>
        </p:spPr>
        <p:txBody>
          <a:bodyPr wrap="none" lIns="0" tIns="0" rIns="0" bIns="0" rtlCol="0" anchor="t"/>
          <a:lstStyle/>
          <a:p>
            <a:pPr algn="l" indent="0" marL="0">
              <a:lnSpc>
                <a:spcPts val="1850"/>
              </a:lnSpc>
              <a:buNone/>
            </a:pPr>
            <a:r>
              <a:rPr lang="en-US" sz="1450" spc="-30" kern="0" dirty="0">
                <a:solidFill>
                  <a:srgbClr val="000000"/>
                </a:solidFill>
                <a:latin typeface="Source Serif Pro Semi Bold" pitchFamily="34" charset="0"/>
                <a:ea typeface="Source Serif Pro Semi Bold" pitchFamily="34" charset="-122"/>
                <a:cs typeface="Source Serif Pro Semi Bold" pitchFamily="34" charset="-120"/>
              </a:rPr>
              <a:t>Phase 4: Advanced Capabilities</a:t>
            </a:r>
            <a:endParaRPr lang="en-US" sz="1450" dirty="0"/>
          </a:p>
        </p:txBody>
      </p:sp>
      <p:sp>
        <p:nvSpPr>
          <p:cNvPr id="17" name="Text 15"/>
          <p:cNvSpPr/>
          <p:nvPr/>
        </p:nvSpPr>
        <p:spPr>
          <a:xfrm>
            <a:off x="559951" y="6596539"/>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Deepfake &amp; image/video misinformation detection</a:t>
            </a:r>
            <a:endParaRPr lang="en-US" sz="1250" dirty="0"/>
          </a:p>
        </p:txBody>
      </p:sp>
      <p:sp>
        <p:nvSpPr>
          <p:cNvPr id="18" name="Text 16"/>
          <p:cNvSpPr/>
          <p:nvPr/>
        </p:nvSpPr>
        <p:spPr>
          <a:xfrm>
            <a:off x="559951" y="6908482"/>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Blockchain-based audit trail for verified claims</a:t>
            </a:r>
            <a:endParaRPr lang="en-US" sz="1250" dirty="0"/>
          </a:p>
        </p:txBody>
      </p:sp>
      <p:sp>
        <p:nvSpPr>
          <p:cNvPr id="19" name="Text 17"/>
          <p:cNvSpPr/>
          <p:nvPr/>
        </p:nvSpPr>
        <p:spPr>
          <a:xfrm>
            <a:off x="559951" y="7220426"/>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AI-powered misinformation trend analysis &amp; heatmaps</a:t>
            </a:r>
            <a:endParaRPr lang="en-US" sz="1250" dirty="0"/>
          </a:p>
        </p:txBody>
      </p:sp>
      <p:sp>
        <p:nvSpPr>
          <p:cNvPr id="20" name="Text 18"/>
          <p:cNvSpPr/>
          <p:nvPr/>
        </p:nvSpPr>
        <p:spPr>
          <a:xfrm>
            <a:off x="559951" y="7532370"/>
            <a:ext cx="13510498" cy="255984"/>
          </a:xfrm>
          <a:prstGeom prst="rect">
            <a:avLst/>
          </a:prstGeom>
          <a:noFill/>
          <a:ln/>
        </p:spPr>
        <p:txBody>
          <a:bodyPr wrap="none" lIns="0" tIns="0" rIns="0" bIns="0" rtlCol="0" anchor="t"/>
          <a:lstStyle/>
          <a:p>
            <a:pPr algn="l" marL="342900" indent="-342900">
              <a:lnSpc>
                <a:spcPts val="2000"/>
              </a:lnSpc>
              <a:buSzPct val="100000"/>
              <a:buChar char="•"/>
            </a:pPr>
            <a:r>
              <a:rPr lang="en-US" sz="1250" spc="-25" kern="0" dirty="0">
                <a:solidFill>
                  <a:srgbClr val="272525"/>
                </a:solidFill>
                <a:latin typeface="Source Sans Pro" pitchFamily="34" charset="0"/>
                <a:ea typeface="Source Sans Pro" pitchFamily="34" charset="-122"/>
                <a:cs typeface="Source Sans Pro" pitchFamily="34" charset="-120"/>
              </a:rPr>
              <a:t>Adaptive learning from user feedback to reduce false positives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7724" y="2178725"/>
            <a:ext cx="5632490" cy="704017"/>
          </a:xfrm>
          <a:prstGeom prst="rect">
            <a:avLst/>
          </a:prstGeom>
          <a:noFill/>
          <a:ln/>
        </p:spPr>
        <p:txBody>
          <a:bodyPr wrap="none" lIns="0" tIns="0" rIns="0" bIns="0" rtlCol="0" anchor="t"/>
          <a:lstStyle/>
          <a:p>
            <a:pPr algn="l" indent="0" marL="0">
              <a:lnSpc>
                <a:spcPts val="5500"/>
              </a:lnSpc>
              <a:buNone/>
            </a:pPr>
            <a:r>
              <a:rPr lang="en-US" sz="4400" spc="-89" kern="0" dirty="0">
                <a:solidFill>
                  <a:srgbClr val="000000"/>
                </a:solidFill>
                <a:latin typeface="Source Serif Pro Semi Bold" pitchFamily="34" charset="0"/>
                <a:ea typeface="Source Serif Pro Semi Bold" pitchFamily="34" charset="-122"/>
                <a:cs typeface="Source Serif Pro Semi Bold" pitchFamily="34" charset="-120"/>
              </a:rPr>
              <a:t>                                            </a:t>
            </a:r>
            <a:endParaRPr lang="en-US" sz="4400" dirty="0"/>
          </a:p>
        </p:txBody>
      </p:sp>
      <p:sp>
        <p:nvSpPr>
          <p:cNvPr id="3" name="Text 1"/>
          <p:cNvSpPr/>
          <p:nvPr/>
        </p:nvSpPr>
        <p:spPr>
          <a:xfrm>
            <a:off x="837724" y="3241715"/>
            <a:ext cx="7996952" cy="704017"/>
          </a:xfrm>
          <a:prstGeom prst="rect">
            <a:avLst/>
          </a:prstGeom>
          <a:noFill/>
          <a:ln/>
        </p:spPr>
        <p:txBody>
          <a:bodyPr wrap="none" lIns="0" tIns="0" rIns="0" bIns="0" rtlCol="0" anchor="t"/>
          <a:lstStyle/>
          <a:p>
            <a:pPr algn="l" indent="0" marL="0">
              <a:lnSpc>
                <a:spcPts val="5500"/>
              </a:lnSpc>
              <a:buNone/>
            </a:pPr>
            <a:r>
              <a:rPr lang="en-US" sz="4400" spc="-89" kern="0" dirty="0">
                <a:solidFill>
                  <a:srgbClr val="000000"/>
                </a:solidFill>
                <a:latin typeface="Source Serif Pro Semi Bold" pitchFamily="34" charset="0"/>
                <a:ea typeface="Source Serif Pro Semi Bold" pitchFamily="34" charset="-122"/>
                <a:cs typeface="Source Serif Pro Semi Bold" pitchFamily="34" charset="-120"/>
              </a:rPr>
              <a:t>                                            Thank You!!</a:t>
            </a:r>
            <a:endParaRPr lang="en-US" sz="4400" dirty="0"/>
          </a:p>
        </p:txBody>
      </p:sp>
      <p:sp>
        <p:nvSpPr>
          <p:cNvPr id="4" name="Text 2"/>
          <p:cNvSpPr/>
          <p:nvPr/>
        </p:nvSpPr>
        <p:spPr>
          <a:xfrm>
            <a:off x="837724" y="4304705"/>
            <a:ext cx="9183648" cy="351949"/>
          </a:xfrm>
          <a:prstGeom prst="rect">
            <a:avLst/>
          </a:prstGeom>
          <a:noFill/>
          <a:ln/>
        </p:spPr>
        <p:txBody>
          <a:bodyPr wrap="none" lIns="0" tIns="0" rIns="0" bIns="0" rtlCol="0" anchor="t"/>
          <a:lstStyle/>
          <a:p>
            <a:pPr algn="l" indent="0" marL="0">
              <a:lnSpc>
                <a:spcPts val="2750"/>
              </a:lnSpc>
              <a:buNone/>
            </a:pPr>
            <a:r>
              <a:rPr lang="en-US" sz="2200" spc="-44" kern="0" dirty="0">
                <a:solidFill>
                  <a:srgbClr val="000000"/>
                </a:solidFill>
                <a:latin typeface="Source Serif Pro Semi Bold" pitchFamily="34" charset="0"/>
                <a:ea typeface="Source Serif Pro Semi Bold" pitchFamily="34" charset="-122"/>
                <a:cs typeface="Source Serif Pro Semi Bold" pitchFamily="34" charset="-120"/>
              </a:rPr>
              <a:t>                                                                             </a:t>
            </a:r>
            <a:pPr algn="l" indent="0" marL="0">
              <a:lnSpc>
                <a:spcPts val="2750"/>
              </a:lnSpc>
              <a:buNone/>
            </a:pPr>
            <a:r>
              <a:rPr lang="en-US" sz="2200" i="1" spc="-44" kern="0" dirty="0">
                <a:solidFill>
                  <a:srgbClr val="000000"/>
                </a:solidFill>
                <a:latin typeface="Source Serif Pro Semi Bold" pitchFamily="34" charset="0"/>
                <a:ea typeface="Source Serif Pro Semi Bold" pitchFamily="34" charset="-122"/>
                <a:cs typeface="Source Serif Pro Semi Bold" pitchFamily="34" charset="-120"/>
              </a:rPr>
              <a:t>"Empowering media, protecting truth."</a:t>
            </a:r>
            <a:endParaRPr lang="en-US" sz="2200" dirty="0"/>
          </a:p>
        </p:txBody>
      </p:sp>
      <p:sp>
        <p:nvSpPr>
          <p:cNvPr id="5" name="Text 3"/>
          <p:cNvSpPr/>
          <p:nvPr/>
        </p:nvSpPr>
        <p:spPr>
          <a:xfrm>
            <a:off x="837724" y="5015627"/>
            <a:ext cx="12954952" cy="383024"/>
          </a:xfrm>
          <a:prstGeom prst="rect">
            <a:avLst/>
          </a:prstGeom>
          <a:noFill/>
          <a:ln/>
        </p:spPr>
        <p:txBody>
          <a:bodyPr wrap="none" lIns="0" tIns="0" rIns="0" bIns="0" rtlCol="0" anchor="t"/>
          <a:lstStyle/>
          <a:p>
            <a:pPr algn="l" indent="0" marL="0">
              <a:lnSpc>
                <a:spcPts val="3000"/>
              </a:lnSpc>
              <a:buNone/>
            </a:pPr>
            <a:r>
              <a:rPr lang="en-US" sz="1850" i="1"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Presented by:</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Manasa Gangotri</a:t>
            </a:r>
            <a:endParaRPr lang="en-US" sz="1850" dirty="0"/>
          </a:p>
        </p:txBody>
      </p:sp>
      <p:sp>
        <p:nvSpPr>
          <p:cNvPr id="6" name="Text 4"/>
          <p:cNvSpPr/>
          <p:nvPr/>
        </p:nvSpPr>
        <p:spPr>
          <a:xfrm>
            <a:off x="837724" y="5667851"/>
            <a:ext cx="12954952"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2025-04-06T13:07:50Z</dcterms:created>
  <dcterms:modified xsi:type="dcterms:W3CDTF">2025-04-06T13:07:50Z</dcterms:modified>
</cp:coreProperties>
</file>